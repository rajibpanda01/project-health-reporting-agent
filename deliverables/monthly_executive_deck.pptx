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0f502497d84ec6" /><Relationship Type="http://schemas.openxmlformats.org/officeDocument/2006/relationships/extended-properties" Target="/docProps/app.xml" Id="R5eb8f240cc5f4283" /><Relationship Type="http://schemas.openxmlformats.org/officeDocument/2006/relationships/officeDocument" Target="/ppt/presentation.xml" Id="R86119ee84e664f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9563a3bdba4516"/>
  </p:sldMasterIdLst>
  <p:notesMasterIdLst>
    <p:notesMasterId xmlns:r="http://schemas.openxmlformats.org/officeDocument/2006/relationships" r:id="Rd2c900a869e64714"/>
  </p:notesMasterIdLst>
  <p:sldIdLst>
    <p:sldId xmlns:r="http://schemas.openxmlformats.org/officeDocument/2006/relationships" id="256" r:id="Rff53846a9772409d"/>
    <p:sldId xmlns:r="http://schemas.openxmlformats.org/officeDocument/2006/relationships" id="257" r:id="R664ce838f2ee4ab3"/>
    <p:sldId xmlns:r="http://schemas.openxmlformats.org/officeDocument/2006/relationships" id="258" r:id="R8a1553d990684528"/>
    <p:sldId xmlns:r="http://schemas.openxmlformats.org/officeDocument/2006/relationships" id="259" r:id="R9e4ff2e18efd4adc"/>
    <p:sldId xmlns:r="http://schemas.openxmlformats.org/officeDocument/2006/relationships" id="260" r:id="Rc33b3d7397534baa"/>
    <p:sldId xmlns:r="http://schemas.openxmlformats.org/officeDocument/2006/relationships" id="261" r:id="R71267295d64844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778077782047c4" /><Relationship Type="http://schemas.openxmlformats.org/officeDocument/2006/relationships/slideMaster" Target="/ppt/slideMasters/slideMaster1.xml" Id="R529563a3bdba4516" /><Relationship Type="http://schemas.openxmlformats.org/officeDocument/2006/relationships/notesMaster" Target="/ppt/notesMasters/notesMaster1.xml" Id="Rd2c900a869e64714" /><Relationship Type="http://schemas.openxmlformats.org/officeDocument/2006/relationships/presProps" Target="/ppt/presProps.xml" Id="Rd03eaa960b1d4f30" /><Relationship Type="http://schemas.openxmlformats.org/officeDocument/2006/relationships/tableStyles" Target="/ppt/tableStyles.xml" Id="R8d4c9042d5154427" /><Relationship Type="http://schemas.openxmlformats.org/officeDocument/2006/relationships/slide" Target="/ppt/slides/slide1.xml" Id="Rff53846a9772409d" /><Relationship Type="http://schemas.openxmlformats.org/officeDocument/2006/relationships/slide" Target="/ppt/slides/slide2.xml" Id="R664ce838f2ee4ab3" /><Relationship Type="http://schemas.openxmlformats.org/officeDocument/2006/relationships/slide" Target="/ppt/slides/slide3.xml" Id="R8a1553d990684528" /><Relationship Type="http://schemas.openxmlformats.org/officeDocument/2006/relationships/slide" Target="/ppt/slides/slide4.xml" Id="R9e4ff2e18efd4adc" /><Relationship Type="http://schemas.openxmlformats.org/officeDocument/2006/relationships/slide" Target="/ppt/slides/slide5.xml" Id="Rc33b3d7397534baa" /><Relationship Type="http://schemas.openxmlformats.org/officeDocument/2006/relationships/slide" Target="/ppt/slides/slide6.xml" Id="R71267295d64844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76232e1ec142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aea47951d9458e" /><Relationship Type="http://schemas.openxmlformats.org/officeDocument/2006/relationships/notesMaster" Target="/ppt/notesMasters/notesMaster1.xml" Id="Rba7d147daedb47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bbb47dcf984d7f" /><Relationship Type="http://schemas.openxmlformats.org/officeDocument/2006/relationships/notesMaster" Target="/ppt/notesMasters/notesMaster1.xml" Id="R618e6c7ba36b47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0807b543fd48bb" /><Relationship Type="http://schemas.openxmlformats.org/officeDocument/2006/relationships/notesMaster" Target="/ppt/notesMasters/notesMaster1.xml" Id="R52ff5ff2c7314c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2191887f6f474b" /><Relationship Type="http://schemas.openxmlformats.org/officeDocument/2006/relationships/notesMaster" Target="/ppt/notesMasters/notesMaster1.xml" Id="R8ffa97e72b1a40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c5a1af32bf4123" /><Relationship Type="http://schemas.openxmlformats.org/officeDocument/2006/relationships/notesMaster" Target="/ppt/notesMasters/notesMaster1.xml" Id="R869d63450f574d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a7325431da472d" /><Relationship Type="http://schemas.openxmlformats.org/officeDocument/2006/relationships/notesMaster" Target="/ppt/notesMasters/notesMaster1.xml" Id="Rcb4003de6acd41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34bffd95f449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7792d0f9654550" /><Relationship Type="http://schemas.openxmlformats.org/officeDocument/2006/relationships/slideLayout" Target="/ppt/slideLayouts/slideLayout1.xml" Id="R4b84b364cfd84f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84b364cfd84f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e241c21064da7" /><Relationship Type="http://schemas.openxmlformats.org/officeDocument/2006/relationships/notesSlide" Target="/ppt/notesSlides/notesSlide1.xml" Id="Rcd043f008e8241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fa94cbd534d8c" /><Relationship Type="http://schemas.openxmlformats.org/officeDocument/2006/relationships/notesSlide" Target="/ppt/notesSlides/notesSlide2.xml" Id="R1d0cd1516cf440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48b4f2e0b4793" /><Relationship Type="http://schemas.openxmlformats.org/officeDocument/2006/relationships/notesSlide" Target="/ppt/notesSlides/notesSlide3.xml" Id="Re3ed415e3c964b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b9e4d1c614af7" /><Relationship Type="http://schemas.openxmlformats.org/officeDocument/2006/relationships/notesSlide" Target="/ppt/notesSlides/notesSlide4.xml" Id="Rb0ef9d4100ec4e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4c349db434e98" /><Relationship Type="http://schemas.openxmlformats.org/officeDocument/2006/relationships/notesSlide" Target="/ppt/notesSlides/notesSlide5.xml" Id="Rf2d1774d57664b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1b24a02af4ef2" /><Relationship Type="http://schemas.openxmlformats.org/officeDocument/2006/relationships/notesSlide" Target="/ppt/notesSlides/notesSlide6.xml" Id="Re517a1e223de49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2E6C66-8550-4DF3-84B4-EB1411B0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3CD98-E07C-49EF-8593-665997BD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Automated monthly client-ready view generated from the analyzed project plans.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CB27B-D507-4330-98ED-BD682014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FBA92-E4B8-45B0-BBF4-11581A9B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964660-ADEE-45F5-AB0F-BAAF07B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Projects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689B52-E968-44C4-BB95-F020AD7C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9EDDB-E864-4CA6-A90C-1C744517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875AB-8D10-4000-B554-73856B6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B4ADD-4ED3-4ABC-898B-BAE22D9A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7820A-1A25-41E3-9FF9-268736C2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850C1-7D07-40D1-96E5-37832979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2C0CA-A501-4967-B275-FF4F043B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CC"/>
          </a:solidFill>
          <a:ln xmlns:a="http://schemas.openxmlformats.org/drawingml/2006/main" w="0">
            <a:solidFill>
              <a:srgbClr val="F8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FB1D2-B823-409A-BFEA-B601768E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8BC324-C3BA-4030-9561-D8EF2AF5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2B7ECF-C4F9-4725-8813-6D77C2B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147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7CAC33-D166-47C9-BBDF-A647A929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43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111"/>
                </a:solidFill>
              </a:defRPr>
            </a:pPr>
            <a:r>
              <a:rPr sz="1800">
                <a:solidFill>
                  <a:srgbClr val="111111"/>
                </a:solidFill>
              </a:rPr>
              <a:t>100%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A9328-A006-405A-9911-AB795BAC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82D17B-F7B2-4908-9960-EBE791DB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This month at a glance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59EB6-CEC6-4700-8543-DF289F77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25717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Risk is the most common lead driver.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Schedule pressure is the next-most common concern across the current plans.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UniSan S2P implementation remains red and should stay on the next escalation review list.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1C9CC3-FE36-470A-BB90-C38B7040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544473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DDC86E-B162-4517-9527-2C44D1B9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Portfolio Health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70D72-AF15-4D9C-B0F4-915124AD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RAG distribution, average score, and model validation point to a portfolio that is broadly under delivery pressure.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B6D53-06BC-4715-9E74-E978D19E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59055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0E00B-2A3A-4829-8432-A813DC7B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RAG 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1E264-4A4F-4B57-9E80-30D194D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2193C-3C38-4D3C-88DF-32FFDAF1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5DE68-165B-4527-8471-D66DC6E4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E45F1-58AF-4743-ABA0-169EB565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7A243-D57E-4585-BA82-BD95298C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1465B3-DF7B-4557-9EE6-02355E6C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45572-814E-480B-B647-2C4DECED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D10A43-5D78-4185-BAD7-4051BDB8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37C670-2D9E-4095-A373-CD69A8F3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B6E3E-7F54-43C2-A357-1736FF41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5029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2 project plans were analyzed in this run, and every current view is red or amber-weighted enough to need active leadership attention.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C1D6C-BB03-4776-A988-ACCCA615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19250"/>
            <a:ext cx="2209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2D48E-5281-48F5-AC10-BC7FA4DC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907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53.2/100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D9C0A1-9D7D-48EF-933F-2BDD75EE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86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Overall 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40B791-DB1F-4E01-B67C-E8686D1C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19250"/>
            <a:ext cx="2057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40EEAE-A332-4372-A81D-B3335FC7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907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FCBC9B-204F-4908-BECA-08BD21DE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00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Validation Accuracy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14E94A-8B99-4544-9B47-0E9A0708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62350"/>
            <a:ext cx="44386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The average score across all 2 analyzed project plans is 53.2/100. Validation against the embedded workbook health labels holds at 50%, which is directionally useful for leadership screening while keeping the reasoning transparent.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6A6338-120F-42F8-ABC4-CD68B586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937580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972259-7939-40C8-9C8F-C2FDE7BF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Emerging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9D693-73DB-4A24-B130-1D204C8C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Delay, budget burn, staffing pressure, and stakeholder confidence are emerging together rather than as isolated signals.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A095E-9B21-4C9E-A581-C8EEC322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8CD8B-70D5-496D-A312-3689D290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CD0DD-AC0E-450F-9026-4B0214EC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Budget Burn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A982F-5449-4DA6-BC18-B3C409D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97707-D0BB-424C-8A39-587C1C8B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BDAF4-F579-4EF8-B3ED-DA15CCD9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Schedule Delays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46BF7-AC92-4D15-AE97-FF43316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D74BD1-7037-486B-8699-7DA6BBAC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C04E0-EBFA-4E89-A760-932F49AD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Resource Issues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5D46C-3511-4638-8582-56FC29D0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1E7F36-2DB8-40D0-9B14-EA0740D3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8F687-832E-492E-941C-A51E69A1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Stakeholder Concerns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A8E64-296C-4C77-8F78-64D21C3A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62100"/>
            <a:ext cx="51244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A11A1F-DBF2-4385-B9B5-9ECF2F1A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Risk 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2083F-A532-45E7-8C14-69E7FA84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66950"/>
            <a:ext cx="43434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1 projects are already more than two weeks behind, and 0 are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0 projects also carry two or more critical blockers, which means the schedule risk is likely to stay elevated unless escalation gets faster.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543C02-7A19-412E-8379-3FCD0E0C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616705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CD2774-AF01-4892-9D50-C8D85F12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Critical Projects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10DD7-6611-43B6-B00C-22A26063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Top five red projects by score, ranked by the severity of the current delivery signal.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57200" y="1581150"/>
          <a:ext xmlns:a="http://schemas.openxmlformats.org/drawingml/2006/main" cx="1080135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48000"/>
                <a:gridCol w="1047750"/>
                <a:gridCol w="6705600"/>
              </a:tblGrid>
              <a:tr h="1333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Project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Zycus - UniSan S2P Implementation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68.3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About 61% of the plan duration has elapsed, while blended progress is 44% and 23% of due tasks are still incomplete</a:t>
                      </a:r>
                    </a:p>
                  </a:txBody>
                  <a:tcPr marL="91440" marR="91440" marT="45720" marB="45720"/>
                </a:tc>
              </a:tr>
              <a:tr h="1333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Zycus - Titan S2P Implementation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38.1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The plan carries 16 critical risks and 24 high risks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88D6E-596C-4068-871A-C874F2B0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552F1F-45E7-451C-A699-AFC338E3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40782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688EEA-AE40-4C1C-97E2-56FA11B6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EB790-8CA0-4987-90CD-87FDD4FA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next operating cycle should focus on recovery discipline, blocker escalation, and cleaner execution reporting.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ECBEB-8294-47BB-8B2E-A1D97F20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7787F-789A-4486-B550-9E0F4160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BFF85-C147-461F-9F69-B9F5DA68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907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Increase staffing where utilization is already above safe limits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12DF7-7EA7-4F9C-B4A9-C1D5C57A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526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Reassign or add capacity to the most constrained plans before schedule recovery work pushes the same teams further behind.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C432C-F0AC-4B9A-8C74-FEC73A4B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2895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F4469-CC31-4C5E-91F6-75725465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B7AEE-2A96-4A6F-B3DB-BFB8FF99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575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Escalate blocked projects through a daily unblock cadence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6D81C2-4F8A-4D26-B1FE-37580946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1950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Use a standing review for critical blockers and P1 issues so execution stalls do not sit inside weekly status reports.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BF866-81E6-4CD3-9142-93D883D6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623ED-0763-4BB7-B7BA-A61D3C49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A86DDE-1E44-40B9-8746-23813E0D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Rebaseline delayed milestones and enforce dated recovery plans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D6783-66FE-4B37-A666-39AF787F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863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Reset dates at milestone level for the top red projects and review burn-versus-progress weekly until the gap narrows.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78899E-89D6-4535-9BB4-3B1264C2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2952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4AAC4B-130D-4CA1-8E87-83EA49CF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Next Month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FCA80-608E-4DE1-B6F1-F4257C2E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near-term forecast improves only if the current red watchlist receives faster recovery actions than it did this month.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88273-5502-4C93-9590-CF9B9BD5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4686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88232-4DD9-428D-B5C4-9126E4B5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B8DA44-FBF1-4732-96F8-7A3F4BE1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39814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</a:defRPr>
            </a:pPr>
            <a:r>
              <a:rPr sz="1650">
                <a:solidFill>
                  <a:srgbClr val="111111"/>
                </a:solidFill>
              </a:rPr>
              <a:t>Without intervention, the portfolio is likely to stay red-heavy next month because delay, cost, and blocker pressure are all elevated at the same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2C23A-0F44-4523-B637-55EB2154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00200"/>
            <a:ext cx="57531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6274D-6993-4DE0-BC7D-63973CD3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85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Expected improvements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01ACF-62F0-442F-88B9-5126128E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19350"/>
            <a:ext cx="4953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1. Re-baselining the top five red projects should slow further schedule deterioration across the 1 projects already delayed by more than 14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2. A tighter burn-versus-progress review should help contain the 0 projects currently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3. Daily blocker escalation and better status hygiene should improve confidence on the 0 heavily blocked projects and narrow the 0.4-point reporting gap in Zycus - UniSan S2P Implementation.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AB757-B554-46F5-B359-1830AFF6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Project Plan B should stay on the watchlist next month because it remains Red and still carries a 0-point gap between weekly and task-level progress.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4E0A1-39CD-47A2-B4DE-3154F808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66280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2026-07-08T16:49:50.7260000Z</dcterms:created>
  <dcterms:modified xsi:type="dcterms:W3CDTF">2026-07-08T16:49:50.7260000Z</dcterms:modified>
</coreProperties>
</file>