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ba9616706440de" /><Relationship Type="http://schemas.openxmlformats.org/officeDocument/2006/relationships/extended-properties" Target="/docProps/app.xml" Id="R0009ff0cf05b434e" /><Relationship Type="http://schemas.openxmlformats.org/officeDocument/2006/relationships/officeDocument" Target="/ppt/presentation.xml" Id="R7bb08c0342c848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b0ebabb2c84c22"/>
  </p:sldMasterIdLst>
  <p:notesMasterIdLst>
    <p:notesMasterId xmlns:r="http://schemas.openxmlformats.org/officeDocument/2006/relationships" r:id="R0e6564313a1942c4"/>
  </p:notesMasterIdLst>
  <p:sldIdLst>
    <p:sldId xmlns:r="http://schemas.openxmlformats.org/officeDocument/2006/relationships" id="256" r:id="R1ade6f275e364942"/>
    <p:sldId xmlns:r="http://schemas.openxmlformats.org/officeDocument/2006/relationships" id="257" r:id="Rd017f5f17d1a409d"/>
    <p:sldId xmlns:r="http://schemas.openxmlformats.org/officeDocument/2006/relationships" id="258" r:id="R9b6c1713d81d4dd4"/>
    <p:sldId xmlns:r="http://schemas.openxmlformats.org/officeDocument/2006/relationships" id="259" r:id="R471f454a50a24b0e"/>
    <p:sldId xmlns:r="http://schemas.openxmlformats.org/officeDocument/2006/relationships" id="260" r:id="Ra60b999339be4dfe"/>
    <p:sldId xmlns:r="http://schemas.openxmlformats.org/officeDocument/2006/relationships" id="261" r:id="R469d30efb5a7448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526c21b37f428a" /><Relationship Type="http://schemas.openxmlformats.org/officeDocument/2006/relationships/slideMaster" Target="/ppt/slideMasters/slideMaster1.xml" Id="R2ab0ebabb2c84c22" /><Relationship Type="http://schemas.openxmlformats.org/officeDocument/2006/relationships/notesMaster" Target="/ppt/notesMasters/notesMaster1.xml" Id="R0e6564313a1942c4" /><Relationship Type="http://schemas.openxmlformats.org/officeDocument/2006/relationships/presProps" Target="/ppt/presProps.xml" Id="R869ff95b25a74701" /><Relationship Type="http://schemas.openxmlformats.org/officeDocument/2006/relationships/tableStyles" Target="/ppt/tableStyles.xml" Id="Rd306e3cc16854c0a" /><Relationship Type="http://schemas.openxmlformats.org/officeDocument/2006/relationships/slide" Target="/ppt/slides/slide1.xml" Id="R1ade6f275e364942" /><Relationship Type="http://schemas.openxmlformats.org/officeDocument/2006/relationships/slide" Target="/ppt/slides/slide2.xml" Id="Rd017f5f17d1a409d" /><Relationship Type="http://schemas.openxmlformats.org/officeDocument/2006/relationships/slide" Target="/ppt/slides/slide3.xml" Id="R9b6c1713d81d4dd4" /><Relationship Type="http://schemas.openxmlformats.org/officeDocument/2006/relationships/slide" Target="/ppt/slides/slide4.xml" Id="R471f454a50a24b0e" /><Relationship Type="http://schemas.openxmlformats.org/officeDocument/2006/relationships/slide" Target="/ppt/slides/slide5.xml" Id="Ra60b999339be4dfe" /><Relationship Type="http://schemas.openxmlformats.org/officeDocument/2006/relationships/slide" Target="/ppt/slides/slide6.xml" Id="R469d30efb5a744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018dd29e8141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d00ec5e5194301" /><Relationship Type="http://schemas.openxmlformats.org/officeDocument/2006/relationships/notesMaster" Target="/ppt/notesMasters/notesMaster1.xml" Id="R4a7069de76674e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96246270524961" /><Relationship Type="http://schemas.openxmlformats.org/officeDocument/2006/relationships/notesMaster" Target="/ppt/notesMasters/notesMaster1.xml" Id="Rf392797b9151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e1a5502b2f4ed7" /><Relationship Type="http://schemas.openxmlformats.org/officeDocument/2006/relationships/notesMaster" Target="/ppt/notesMasters/notesMaster1.xml" Id="R7a5538ae4b3540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21a32c761c43c6" /><Relationship Type="http://schemas.openxmlformats.org/officeDocument/2006/relationships/notesMaster" Target="/ppt/notesMasters/notesMaster1.xml" Id="R1ebc3c3a4dba4e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55e7e54cea432a" /><Relationship Type="http://schemas.openxmlformats.org/officeDocument/2006/relationships/notesMaster" Target="/ppt/notesMasters/notesMaster1.xml" Id="R4d6887cded2c48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92ee3d90644c67" /><Relationship Type="http://schemas.openxmlformats.org/officeDocument/2006/relationships/notesMaster" Target="/ppt/notesMasters/notesMaster1.xml" Id="R9ca0b8a117de40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e2e030486d4b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701cbb08f34ead" /><Relationship Type="http://schemas.openxmlformats.org/officeDocument/2006/relationships/slideLayout" Target="/ppt/slideLayouts/slideLayout1.xml" Id="R2b527ac73ee143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527ac73ee143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282d4f004436c" /><Relationship Type="http://schemas.openxmlformats.org/officeDocument/2006/relationships/notesSlide" Target="/ppt/notesSlides/notesSlide1.xml" Id="R62adaf4e27a44c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fd9aaa0cba4bbc" /><Relationship Type="http://schemas.openxmlformats.org/officeDocument/2006/relationships/notesSlide" Target="/ppt/notesSlides/notesSlide2.xml" Id="R5db2edd2089444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7df1b0ff44532" /><Relationship Type="http://schemas.openxmlformats.org/officeDocument/2006/relationships/notesSlide" Target="/ppt/notesSlides/notesSlide3.xml" Id="Rd395788372814c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746c53e854184" /><Relationship Type="http://schemas.openxmlformats.org/officeDocument/2006/relationships/notesSlide" Target="/ppt/notesSlides/notesSlide4.xml" Id="R67fc31fa5ec34f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1f63a0c4b41a6" /><Relationship Type="http://schemas.openxmlformats.org/officeDocument/2006/relationships/notesSlide" Target="/ppt/notesSlides/notesSlide5.xml" Id="R45de50e692c44b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18bcccc494d20" /><Relationship Type="http://schemas.openxmlformats.org/officeDocument/2006/relationships/notesSlide" Target="/ppt/notesSlides/notesSlide6.xml" Id="Rb549924e4ac648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DC0D57-8E4E-42FB-8564-0E2517BC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22596-CBA9-4A8F-9865-C5A9C69D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Automated monthly client-ready view generated from the analyzed project plans.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85B0A-1F82-43E1-AFEC-91B847C5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0A808-8A08-4E64-BD20-2AB1576D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510E5-DB03-4E99-9C26-AAD4B6B1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Projects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61B74-0BEF-4402-9220-69D01F55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666043-6205-48F8-A1BB-AE841FFC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897C3-DB9B-49A4-9748-3DC3B593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1AB3DE-4808-409D-A5A9-BBD41A6E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2B784-0955-4F53-AB48-C88EBFB9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AAB6E2-59DB-4F05-83D7-D029841C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7342D4-73FB-4797-87E6-C5E18917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D7CC"/>
          </a:solidFill>
          <a:ln xmlns:a="http://schemas.openxmlformats.org/drawingml/2006/main" w="0">
            <a:solidFill>
              <a:srgbClr val="F8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277D3-5953-4EE9-B69B-B78CB948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045AB4-3950-46FE-87A3-A8E212BA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8C036D-E385-4155-B1BF-18093856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147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CAAD41-6EA3-495D-A721-9F220610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43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1111"/>
                </a:solidFill>
              </a:defRPr>
            </a:pPr>
            <a:r>
              <a:rPr sz="1800">
                <a:solidFill>
                  <a:srgbClr val="111111"/>
                </a:solidFill>
              </a:rPr>
              <a:t>100% of analyzed views are currently red, which indicates that schedule recovery and execution control need executive attention before the next client reporting cycle.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578AC3-ABD8-4FC9-B769-7AC91899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862A7-6A6C-4B5B-8ECB-D8E1C655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This month at a glance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2AA66-8EAD-4163-B143-77B80F93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25717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Risk is the most common lead driver.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Schedule pressure is the next-most common concern across the current plans.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UniSan S2P implementation remains red and should stay on the next escalation review list.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9B8A1-5706-457D-928C-5E6F517C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348068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AB7601-964A-49C2-8731-687B6025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Portfolio Health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7A506-0714-4059-9EDF-687CC0CF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RAG distribution, average score, and model validation point to a portfolio that is broadly under delivery pressure.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C8FFD4-F7AB-4175-8944-B1AF2E1F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59055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25A4D-4BA4-43B7-9D76-E451F3DC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RAG Distribution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C7DD9-19D8-4765-9660-7C3C829D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A8A44-8D83-4657-BAEB-F55035E5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ED9A27-F1D8-42C5-8A73-5F9BB1CE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07442-FE62-4549-99F6-EB240C61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F83F6-3014-48FE-A480-379742BE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DFAAD2-6EFA-4C74-A048-8ACA8A63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1E99F-133C-423F-A382-35E94669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A1116C-2792-4D99-80C3-8317C57E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EFA37F-B9BB-4A50-965F-1C7F9D3C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CB2609-418A-42D5-ABFA-9778EBFF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5029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2 project plans were analyzed in this run, and every current view is red or amber-weighted enough to need active leadership attention.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B2214-72FD-48EF-BDB0-75DA9985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19250"/>
            <a:ext cx="2209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4A8B6-57C6-4B6B-8438-D6CBD1D9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907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53/100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1F73EF-856E-42F7-9C4A-E498AF32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186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Overall 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BC5BE8-438C-442C-B6D9-85C9C6B4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19250"/>
            <a:ext cx="2057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5C3656-619D-47F5-BFE6-467F4858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907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539E5C-2850-4568-9F2C-C2D6EDE2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00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Validation Accuracy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7DB569-E737-4124-BF75-DE2322DF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62350"/>
            <a:ext cx="44386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The average score across all 2 analyzed project plans is 53/100. Validation against the embedded workbook health labels holds at 50%, which is directionally useful for leadership screening while keeping the reasoning transparent.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689360-1243-4ADF-8778-A5DB777E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05425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20F222-2D80-4E6A-8EF9-C0A6396A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Emerging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C06B2-A06E-4D84-93BB-53ED381A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Delay, budget burn, staffing pressure, and stakeholder confidence are emerging together rather than as isolated signals.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7AC64-B2E4-469D-94E5-97260513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94697-AB36-497E-AE83-D22E8C00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7EC84-C9D6-4920-8C71-C6ACD583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Budget Burn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1839F-E7F4-4C44-83FB-0600C76D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A59F1-B380-4D3E-9EBE-00A05195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79C7D-E002-4E8F-A379-F5A3288B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Schedule Delays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56CDD2-3025-4758-9F21-863300E8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E64D20-EB08-4A62-ADCE-CC8A29A3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8B4DA-589F-453E-853F-8F546BA9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Resource Issues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14D61-FC6E-4528-8480-0AF72EE8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7F481-1E90-4E2D-B0C9-0A7FF050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4C4A53-B233-4466-B37F-AEB34F61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Stakeholder Concerns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77CA67-F63B-4E78-B9AC-AE3E8518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62100"/>
            <a:ext cx="51244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7D92D1-633A-4662-8167-F9FD3278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Risk 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1B762-442C-4948-82C9-9BEBDDB4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66950"/>
            <a:ext cx="43434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1 projects are already more than two weeks behind, and 0 are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0 projects also carry two or more critical blockers, which means the schedule risk is likely to stay elevated unless escalation gets faster.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Resource utilization above 90% and neutral or negative stakeholder sentiment show that the pressure is visible both inside the delivery teams and with client-facing sponsors.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570D65-573E-4F97-BAE2-E7E39452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351803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E2C505-7D32-432F-9A9E-915A477D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Critical Projects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D87C4-8B92-43AA-BAF7-722675B9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Top five red projects by score, ranked by the severity of the current delivery signal.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57200" y="1581150"/>
          <a:ext xmlns:a="http://schemas.openxmlformats.org/drawingml/2006/main" cx="10801350" cy="4000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48000"/>
                <a:gridCol w="1047750"/>
                <a:gridCol w="6705600"/>
              </a:tblGrid>
              <a:tr h="1333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Project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</a:tr>
              <a:tr h="1333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Zycus - UniSan S2P Implementation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68.1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About 61% of the plan duration has elapsed, while blended progress is 44% and 22% of due tasks are still incomplete</a:t>
                      </a:r>
                    </a:p>
                  </a:txBody>
                  <a:tcPr marL="91440" marR="91440" marT="45720" marB="45720"/>
                </a:tc>
              </a:tr>
              <a:tr h="1333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Zycus - Titan S2P Implementation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38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The plan carries 16 critical risks and 24 high risks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E4159-F180-4673-BA47-F17A7F55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These projects should be reviewed first in the next escalation cadence because they combine the highest risk scores with clear delivery explanations.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76D3F-96AF-4584-A331-B457B127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039400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158679-828D-499F-BF5A-3711BA46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064D8-406B-48EE-9374-4C068678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next operating cycle should focus on recovery discipline, blocker escalation, and cleaner execution reporting.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39DA9-3632-4AC1-A470-E8D8E9FA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51922-0D8C-49B4-AA8B-DA24A6E9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A8D5A-2CAD-4A11-949C-A5D364A3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907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Increase staffing where utilization is already above safe limits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FA521-94AB-4148-ADCD-13ED5B31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526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Reassign or add capacity to the most constrained plans before schedule recovery work pushes the same teams further behind.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AC1D6-15A2-4AD5-92E0-562D196A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2895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A60C06-72B1-4D88-B093-D7EF0634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2935-0F12-4644-890C-CF40E0CE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575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Escalate blocked projects through a daily unblock cadence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0DF75C-5EF3-4D3C-8B1E-F3E7BECC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1950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Use a standing review for critical blockers and P1 issues so execution stalls do not sit inside weekly status reports.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2EECF-F4C2-4382-9517-E86F40C2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04F47D-DA02-40AB-AF45-2E097773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4CB3A-083B-47EE-A415-89951BC6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Rebaseline delayed milestones and enforce dated recovery plans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96ACB8-67F1-4EA6-88BA-23ED5910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0863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Reset dates at milestone level for the top red projects and review burn-versus-progress weekly until the gap narrows.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6499D-EFC0-4BE7-8BC5-E31AC11F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08829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5B5312-1311-426D-A0CE-53028F78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Next Month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8B1D4-8F9D-4A0A-8773-4D759028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near-term forecast improves only if the current red watchlist receives faster recovery actions than it did this month.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67DE0-BCF1-4EA1-AB6F-192A88D9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4686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43816-F449-430E-8E81-79AD41CD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Forecast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18035-9032-45CE-A3E8-BDC32D73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39814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</a:defRPr>
            </a:pPr>
            <a:r>
              <a:rPr sz="1650">
                <a:solidFill>
                  <a:srgbClr val="111111"/>
                </a:solidFill>
              </a:rPr>
              <a:t>Without intervention, the portfolio is likely to stay red-heavy next month because delay, cost, and blocker pressure are all elevated at the same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23B08-9FD6-42D6-B806-BFAE536A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00200"/>
            <a:ext cx="57531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55F8E-5008-4064-A06D-27B6A5D9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8859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Expected improvements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1B7EE-CE4C-4627-971B-735C064F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19350"/>
            <a:ext cx="4953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1. Re-baselining the top five red projects should slow further schedule deterioration across the 1 projects already delayed by more than 14 days.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2. A tighter burn-versus-progress review should help contain the 0 projects currently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3. Daily blocker escalation and better status hygiene should improve confidence on the 0 heavily blocked projects and narrow the 0.4-point reporting gap in Zycus - UniSan S2P Implementation.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9896E-3D47-4119-BCB7-45ABBEC2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0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Project Plan B should stay on the watchlist next month because it remains Red and still carries a 0-point gap between weekly and task-level progress.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7669A-D8C7-4D86-A004-D48BFBCA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25588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2026-07-07T17:03:59.4730000Z</dcterms:created>
  <dcterms:modified xsi:type="dcterms:W3CDTF">2026-07-07T17:03:59.4730000Z</dcterms:modified>
</coreProperties>
</file>