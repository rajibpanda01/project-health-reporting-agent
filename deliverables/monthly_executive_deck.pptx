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098698fccc4b29" /><Relationship Type="http://schemas.openxmlformats.org/officeDocument/2006/relationships/extended-properties" Target="/docProps/app.xml" Id="R1cc977b9414a4040" /><Relationship Type="http://schemas.openxmlformats.org/officeDocument/2006/relationships/officeDocument" Target="/ppt/presentation.xml" Id="R45a632701a834a5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11512d8cb144b6f"/>
  </p:sldMasterIdLst>
  <p:notesMasterIdLst>
    <p:notesMasterId xmlns:r="http://schemas.openxmlformats.org/officeDocument/2006/relationships" r:id="R2025deea10dd4dc1"/>
  </p:notesMasterIdLst>
  <p:sldIdLst>
    <p:sldId xmlns:r="http://schemas.openxmlformats.org/officeDocument/2006/relationships" id="256" r:id="Ra9ee94e558324245"/>
    <p:sldId xmlns:r="http://schemas.openxmlformats.org/officeDocument/2006/relationships" id="257" r:id="Rdc77970fa20a4f57"/>
    <p:sldId xmlns:r="http://schemas.openxmlformats.org/officeDocument/2006/relationships" id="258" r:id="R526c832ad92849ba"/>
    <p:sldId xmlns:r="http://schemas.openxmlformats.org/officeDocument/2006/relationships" id="259" r:id="R5c6885a53fe349b9"/>
    <p:sldId xmlns:r="http://schemas.openxmlformats.org/officeDocument/2006/relationships" id="260" r:id="R691fc1cc77294ef0"/>
    <p:sldId xmlns:r="http://schemas.openxmlformats.org/officeDocument/2006/relationships" id="261" r:id="R3626d2f91f694b2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ab9fc153f2d48e9" /><Relationship Type="http://schemas.openxmlformats.org/officeDocument/2006/relationships/slideMaster" Target="/ppt/slideMasters/slideMaster1.xml" Id="R111512d8cb144b6f" /><Relationship Type="http://schemas.openxmlformats.org/officeDocument/2006/relationships/notesMaster" Target="/ppt/notesMasters/notesMaster1.xml" Id="R2025deea10dd4dc1" /><Relationship Type="http://schemas.openxmlformats.org/officeDocument/2006/relationships/presProps" Target="/ppt/presProps.xml" Id="R8581bfa6e62b423b" /><Relationship Type="http://schemas.openxmlformats.org/officeDocument/2006/relationships/tableStyles" Target="/ppt/tableStyles.xml" Id="R7d45c52b62634165" /><Relationship Type="http://schemas.openxmlformats.org/officeDocument/2006/relationships/slide" Target="/ppt/slides/slide1.xml" Id="Ra9ee94e558324245" /><Relationship Type="http://schemas.openxmlformats.org/officeDocument/2006/relationships/slide" Target="/ppt/slides/slide2.xml" Id="Rdc77970fa20a4f57" /><Relationship Type="http://schemas.openxmlformats.org/officeDocument/2006/relationships/slide" Target="/ppt/slides/slide3.xml" Id="R526c832ad92849ba" /><Relationship Type="http://schemas.openxmlformats.org/officeDocument/2006/relationships/slide" Target="/ppt/slides/slide4.xml" Id="R5c6885a53fe349b9" /><Relationship Type="http://schemas.openxmlformats.org/officeDocument/2006/relationships/slide" Target="/ppt/slides/slide5.xml" Id="R691fc1cc77294ef0" /><Relationship Type="http://schemas.openxmlformats.org/officeDocument/2006/relationships/slide" Target="/ppt/slides/slide6.xml" Id="R3626d2f91f694b2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3ad66a55888469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170d748b81246db" /><Relationship Type="http://schemas.openxmlformats.org/officeDocument/2006/relationships/notesMaster" Target="/ppt/notesMasters/notesMaster1.xml" Id="R0da389d9e1984a7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c426cde2ad4119" /><Relationship Type="http://schemas.openxmlformats.org/officeDocument/2006/relationships/notesMaster" Target="/ppt/notesMasters/notesMaster1.xml" Id="R09bcdfeccb08410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c0a8cb40d564472" /><Relationship Type="http://schemas.openxmlformats.org/officeDocument/2006/relationships/notesMaster" Target="/ppt/notesMasters/notesMaster1.xml" Id="R2e01073002f9452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a3807a8b51d4fbb" /><Relationship Type="http://schemas.openxmlformats.org/officeDocument/2006/relationships/notesMaster" Target="/ppt/notesMasters/notesMaster1.xml" Id="R42c2622c0d17496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a106f3db3064839" /><Relationship Type="http://schemas.openxmlformats.org/officeDocument/2006/relationships/notesMaster" Target="/ppt/notesMasters/notesMaster1.xml" Id="R514f5e4c9c1d4e4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f14e6261dfb456c" /><Relationship Type="http://schemas.openxmlformats.org/officeDocument/2006/relationships/notesMaster" Target="/ppt/notesMasters/notesMaster1.xml" Id="Rf546af49932941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2365f07e95490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54d80bdfab74e5c" /><Relationship Type="http://schemas.openxmlformats.org/officeDocument/2006/relationships/slideLayout" Target="/ppt/slideLayouts/slideLayout1.xml" Id="R9e5b25b5251042d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e5b25b5251042d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0f2aed384948b3" /><Relationship Type="http://schemas.openxmlformats.org/officeDocument/2006/relationships/notesSlide" Target="/ppt/notesSlides/notesSlide1.xml" Id="Rb21d0f8cd4d249c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fbcdf8f5fd4d10" /><Relationship Type="http://schemas.openxmlformats.org/officeDocument/2006/relationships/notesSlide" Target="/ppt/notesSlides/notesSlide2.xml" Id="R53987e5c52b549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dbfd61d4ab42f9" /><Relationship Type="http://schemas.openxmlformats.org/officeDocument/2006/relationships/notesSlide" Target="/ppt/notesSlides/notesSlide3.xml" Id="Rd7f63948e72c46a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190344d10e4fa4" /><Relationship Type="http://schemas.openxmlformats.org/officeDocument/2006/relationships/notesSlide" Target="/ppt/notesSlides/notesSlide4.xml" Id="Rbe83b08638d048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da56d4c5b0467e" /><Relationship Type="http://schemas.openxmlformats.org/officeDocument/2006/relationships/notesSlide" Target="/ppt/notesSlides/notesSlide5.xml" Id="R9d24be8362994f3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958e22dd514653" /><Relationship Type="http://schemas.openxmlformats.org/officeDocument/2006/relationships/notesSlide" Target="/ppt/notesSlides/notesSlide6.xml" Id="Rdb36f0fe8ad5409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5B3980-0F2B-4E2D-B31F-B71B7AB9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Executive Summary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CFA03C-EA6F-4F81-BED2-4F497294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Automated monthly client-ready view generated from the analyzed project plans.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9712AA-1907-432F-9E60-F13883307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85900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8EFFF7-4151-4F9C-AF49-63FA6842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64ED85-E7CC-47CB-AAC2-DF6E554C0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Projects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6E1EB9-7A90-419B-94CA-486B2FF3E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485900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3C5D7D-3525-46EC-B7DA-486A8B7AF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6573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073969-4B0C-499D-A0D0-66185FEDD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2669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Green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057E15-FAB1-468D-88BB-6C42C560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485900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21F8FC-9D13-453F-9206-C069B049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573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03016F-8DD9-43CF-9CFF-926B218FA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669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Amber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8D055C-21C4-4CBD-8CC7-788E7FB5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485900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D7CC"/>
          </a:solidFill>
          <a:ln xmlns:a="http://schemas.openxmlformats.org/drawingml/2006/main" w="0">
            <a:solidFill>
              <a:srgbClr val="F8D7C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A93A1C-2F30-4177-96F2-A5910D85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573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D9481C"/>
                </a:solidFill>
              </a:defRPr>
            </a:pPr>
            <a:r>
              <a:rPr sz="2550" b="1">
                <a:solidFill>
                  <a:srgbClr val="D9481C"/>
                </a:solidFill>
              </a:rPr>
              <a:t>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50D225-B726-4FB2-BA04-9638ABF8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669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5E3461-6807-48BC-905D-099B5217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14700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4B0D30-8FEF-4A51-AE44-B0AAB3DA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43300"/>
            <a:ext cx="723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11111"/>
                </a:solidFill>
              </a:defRPr>
            </a:pPr>
            <a:r>
              <a:rPr sz="1800">
                <a:solidFill>
                  <a:srgbClr val="111111"/>
                </a:solidFill>
              </a:rPr>
              <a:t>62.5% of analyzed views are currently red, which indicates that schedule recovery and execution control need executive attention before the next client reporting cycle.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63FC3F-D53A-4F2C-A4D5-BEF64716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71850"/>
            <a:ext cx="32004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437CA1-C9B6-4813-A681-5DBE2DFA6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6385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This month at a glance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6722C7-D07B-41EA-B113-FB0804F3A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57650"/>
            <a:ext cx="257175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Schedule is the most common lead driver.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Milestone pressure is the next-most common concern across the current plans.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CRM Upgrade remains red and should stay on the next escalation review list.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7CE744-DE52-4286-8510-D825F9949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663968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304806-866C-4858-B379-CF4ADCD6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Portfolio Health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FF285E-05E5-4FFB-9213-BC10CCA5D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RAG distribution, average score, and model validation point to a portfolio that is broadly under delivery pressure.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6483BD-2373-47DF-9B61-02AE98A6A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5905500" cy="451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B1748F-1FAF-494B-856B-AE64C897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RAG Distribution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0F0325-EE69-4896-A5FD-263BFF585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14859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BB3516-F627-4F68-A5FB-2DD0E9BD9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955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9A8173-9D9C-406B-AC36-DF3F8EA7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0515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Green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179804-F9BF-4794-9A6B-573088BBD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24100"/>
            <a:ext cx="14859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F8D327-15C1-4B3F-980C-26CA52B4C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955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404C3D-36CA-4CFA-90E9-39FDA960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10515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Amber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D824A4-8503-44D5-8023-66563D5D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24100"/>
            <a:ext cx="14859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1B0802-BB9A-45FE-A4A8-65DE1C29D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95550"/>
            <a:ext cx="114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D9481C"/>
                </a:solidFill>
              </a:defRPr>
            </a:pPr>
            <a:r>
              <a:rPr sz="2550" b="1">
                <a:solidFill>
                  <a:srgbClr val="D9481C"/>
                </a:solidFill>
              </a:rPr>
              <a:t>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84A0C0-5C55-431F-B941-98A4F8FD7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10515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5555AE-E6B3-470D-940D-6A8B07645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5029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8 project plans were analyzed in this run, and every current view is red or amber-weighted enough to need active leadership attention.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8D5D32-1725-47E6-972A-6E4A4C149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619250"/>
            <a:ext cx="22098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98F22D-2E6E-4020-8B31-744E29889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7907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57.3/100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176A9D-CBF7-4B82-9F83-CC4246215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00300"/>
            <a:ext cx="1866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Overall Score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6C59D9-FCD7-4C38-AD25-796441FF8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619250"/>
            <a:ext cx="20574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4C5EAD-8EA3-4778-992E-2FDF81BAB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79070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D9481C"/>
                </a:solidFill>
              </a:defRPr>
            </a:pPr>
            <a:r>
              <a:rPr sz="2550" b="1">
                <a:solidFill>
                  <a:srgbClr val="D9481C"/>
                </a:solidFill>
              </a:rPr>
              <a:t>50%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368A5C-39F1-49EA-B02B-D48374741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40030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Validation Accuracy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1983A6-7607-4C1F-B450-7C8190E5E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562350"/>
            <a:ext cx="44386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11111"/>
                </a:solidFill>
              </a:defRPr>
            </a:pPr>
            <a:r>
              <a:rPr sz="1575">
                <a:solidFill>
                  <a:srgbClr val="111111"/>
                </a:solidFill>
              </a:rPr>
              <a:t>The average score across all 8 analyzed project plans is 57.3/100. Validation against the embedded workbook health labels holds at 50%, which is directionally useful for leadership screening while keeping the reasoning transparent.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9D7F45-E164-4DE9-84C4-F4058761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64935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BC30B9-AE47-4025-B403-6693B4A8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Emerging Risks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CBB79B-DAE0-4ECB-B783-C0A06A3B1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Delay, budget burn, staffing pressure, and stakeholder confidence are emerging together rather than as isolated signals.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F316AB-2335-4D1D-9974-D34AA1A1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25527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ADBCBE-D762-465E-AA25-D77E097E1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220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F70E26-C2D8-4AE0-A218-150332F2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2209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Budget Burn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64F1FA-2E9B-4EFD-877F-D0D81D54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562100"/>
            <a:ext cx="25527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11FB37-4B51-4DFF-B9D1-EDCAB25AB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33550"/>
            <a:ext cx="220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D9481C"/>
                </a:solidFill>
              </a:defRPr>
            </a:pPr>
            <a:r>
              <a:rPr sz="2550" b="1">
                <a:solidFill>
                  <a:srgbClr val="D9481C"/>
                </a:solidFill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4CBD68-59FD-4B28-AB2F-3CB805F16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43150"/>
            <a:ext cx="2209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Schedule Delays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31E6DE-1407-4B27-A897-9D70EA33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52800"/>
            <a:ext cx="25527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F2CF80-6DFB-4D4A-935B-3D0F8910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24250"/>
            <a:ext cx="220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E28A65-2370-4F1D-94A0-E925220A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33850"/>
            <a:ext cx="2209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Resource Issues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D79AD6-02C9-4FE0-ABBD-EDDC4AB5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352800"/>
            <a:ext cx="25527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56C9C5-EF7A-43EA-864D-F53DEF1A8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524250"/>
            <a:ext cx="2209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73B515-9D2C-4F36-8D30-41E62E2D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133850"/>
            <a:ext cx="2209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368"/>
                </a:solidFill>
              </a:defRPr>
            </a:pPr>
            <a:r>
              <a:rPr sz="1350">
                <a:solidFill>
                  <a:srgbClr val="5F6368"/>
                </a:solidFill>
              </a:rPr>
              <a:t>Stakeholder Concerns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F3DEAD-8F53-4B89-9418-43BDA6AB3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562100"/>
            <a:ext cx="51244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A7E7B4-FEE3-4BE5-878D-B9BAF3BF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828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Risk interpretation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B6E154-0F72-47BE-81DC-7CF2976B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66950"/>
            <a:ext cx="43434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2 projects are already more than two weeks behind, and 5 are spending ahead of delivery progress.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3 projects also carry two or more critical blockers, which means the schedule risk is likely to stay elevated unless escalation gets faster.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Resource utilization above 90% and neutral or negative stakeholder sentiment show that the pressure is visible both inside the delivery teams and with client-facing sponsors.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8BF249-6FEE-4F1D-BF75-D78DAD5E3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020347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39AAB5-E5F6-4264-841B-67C88F776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Critical Projects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ED9132-DA81-4C20-A2DD-DC0D5118C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Top five red projects by score, ranked by the severity of the current delivery signal.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457200" y="1581150"/>
          <a:ext xmlns:a="http://schemas.openxmlformats.org/drawingml/2006/main" cx="10801350" cy="4000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48000"/>
                <a:gridCol w="1047750"/>
                <a:gridCol w="6705600"/>
              </a:tblGrid>
              <a:tr h="66675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11111"/>
                          </a:solidFill>
                        </a:rPr>
                        <a:t>Project</a:t>
                      </a:r>
                    </a:p>
                  </a:txBody>
                  <a:tcPr marL="91440" marR="91440" marT="45720" marB="45720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11111"/>
                          </a:solidFill>
                        </a:rPr>
                        <a:t>Score</a:t>
                      </a:r>
                    </a:p>
                  </a:txBody>
                  <a:tcPr marL="91440" marR="91440" marT="45720" marB="45720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11111"/>
                          </a:solidFill>
                        </a:rPr>
                        <a:t>Reason</a:t>
                      </a:r>
                    </a:p>
                  </a:txBody>
                  <a:tcPr marL="91440" marR="91440" marT="45720" marB="45720">
                    <a:solidFill>
                      <a:srgbClr val="F1F3F4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CRM Upgrade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91.1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Progress trails plan by 26 points and the project is 18 days behind schedule</a:t>
                      </a:r>
                    </a:p>
                  </a:txBody>
                  <a:tcPr marL="91440" marR="91440" marT="45720" marB="45720"/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Vendor Risk Platform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85.2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Progress trails plan by 23 points and the project is 21 days behind schedule</a:t>
                      </a:r>
                    </a:p>
                  </a:txBody>
                  <a:tcPr marL="91440" marR="91440" marT="45720" marB="45720"/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Contract Lifecycle Mgmt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84.4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Progress trails plan by 14 points and the project is 14 days behind schedule</a:t>
                      </a:r>
                    </a:p>
                  </a:txBody>
                  <a:tcPr marL="91440" marR="91440" marT="45720" marB="45720"/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ERP Migration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74.4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Progress trails plan by 15 points and the project is 12 days behind schedule</a:t>
                      </a:r>
                    </a:p>
                  </a:txBody>
                  <a:tcPr marL="91440" marR="91440" marT="45720" marB="45720"/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Data Lake Modernization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27.9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111"/>
                          </a:solidFill>
                        </a:rPr>
                        <a:t>40% of milestones are marked delayed and 80% are overdue as of 2026-07-09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38B6ED-4F72-414C-9700-AACEE4F0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9120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111"/>
                </a:solidFill>
              </a:defRPr>
            </a:pPr>
            <a:r>
              <a:rPr sz="1500">
                <a:solidFill>
                  <a:srgbClr val="111111"/>
                </a:solidFill>
              </a:rPr>
              <a:t>These projects should be reviewed first in the next escalation cadence because they combine the highest risk scores with clear delivery explanations.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97F556-5E2B-4927-B5B8-3AC9B8C92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035624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F1980A-83A8-4EB6-9126-94DD0417E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Recommendations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AD31E6-1B56-45E7-A860-342A94CD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The next operating cycle should focus on recovery discipline, blocker escalation, and cleaner execution reporting.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FA3AB5-D788-457D-B834-64B699C6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8013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1ABC53-B87A-49F5-855B-AC93E14D2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481C"/>
                </a:solidFill>
              </a:defRPr>
            </a:pPr>
            <a:r>
              <a:rPr sz="1800" b="1">
                <a:solidFill>
                  <a:srgbClr val="D9481C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78E8B8-2B74-4EEC-A051-3A48C5AC7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7907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Increase staffing where utilization is already above safe limits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4C3580-6FEE-4C31-8B54-08CAF1015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152650"/>
            <a:ext cx="866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Reassign or add capacity to the most constrained plans before schedule recovery work pushes the same teams further behind.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EAD70F-F028-49BF-B834-1AED0877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28950"/>
            <a:ext cx="108013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3FF97F-EA45-4142-9335-35F75D41A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71850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481C"/>
                </a:solidFill>
              </a:defRPr>
            </a:pPr>
            <a:r>
              <a:rPr sz="1800" b="1">
                <a:solidFill>
                  <a:srgbClr val="D9481C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97873D-D886-41CC-A9B0-FF5868D3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575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Escalate blocked projects through a daily unblock cadence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170BBA-0698-4BF0-838C-BED15EAFB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619500"/>
            <a:ext cx="866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Use a standing review for critical blockers and P1 issues so execution stalls do not sit inside weekly status reports.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748C19-3BCE-45CC-B38B-274E600A1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95800"/>
            <a:ext cx="108013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DF163C-C301-46FB-BE31-E6C76359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590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481C"/>
                </a:solidFill>
              </a:defRPr>
            </a:pPr>
            <a:r>
              <a:rPr sz="1800" b="1">
                <a:solidFill>
                  <a:srgbClr val="D9481C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88FF96-021B-425B-801F-57699766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7244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Rebaseline delayed milestones and enforce dated recovery plans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F195F2-9F67-4EA2-A0BB-0AD406732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086350"/>
            <a:ext cx="866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Reset dates at milestone level for the top red projects and review burn-versus-progress weekly until the gap narrows.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C6B07-C0A2-4173-AC32-976330EF3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3924277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C4C5F6-CA13-4E04-9797-FD66CA8B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8382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Next Month Outlook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711277-4963-4C99-9F10-00FEA6746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368"/>
                </a:solidFill>
              </a:defRPr>
            </a:pPr>
            <a:r>
              <a:rPr sz="1500">
                <a:solidFill>
                  <a:srgbClr val="5F6368"/>
                </a:solidFill>
              </a:rPr>
              <a:t>The near-term forecast improves only if the current red watchlist receives faster recovery actions than it did this month.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6DA50B-03EB-4738-B3B7-F2D96CA6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46863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solidFill>
              <a:srgbClr val="F1F3F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77F44B-652C-4C1C-90B1-F6347CCAE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Forecast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7A469F-BDC9-4450-86C8-2A44AEA84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43150"/>
            <a:ext cx="39814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11111"/>
                </a:solidFill>
              </a:defRPr>
            </a:pPr>
            <a:r>
              <a:rPr sz="1650">
                <a:solidFill>
                  <a:srgbClr val="111111"/>
                </a:solidFill>
              </a:rPr>
              <a:t>The portfolio should remain mixed next month, but several amber projects could still move red if recovery plans are not enforced.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499FC4-BD6D-4570-9FE0-C6681861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600200"/>
            <a:ext cx="57531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2"/>
          </a:solidFill>
          <a:ln xmlns:a="http://schemas.openxmlformats.org/drawingml/2006/main" w="0">
            <a:solidFill>
              <a:srgbClr val="FDE9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E4CE85-3ADF-4EC2-89DF-7C91B8306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885950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Expected improvements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4765BF-AA67-4209-93E4-8D7BE4FF5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419350"/>
            <a:ext cx="495300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1. Re-baselining the top five red projects should slow further schedule deterioration across the 2 projects already delayed by more than 14 days.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2. A tighter burn-versus-progress review should help contain the 5 projects currently spending ahead of delivery progress.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11111"/>
                </a:solidFill>
              </a:defRPr>
            </a:pPr>
            <a:r>
              <a:rPr sz="1350">
                <a:solidFill>
                  <a:srgbClr val="111111"/>
                </a:solidFill>
              </a:rPr>
              <a:t>3. Daily blocker escalation and better status hygiene should improve confidence on the 3 heavily blocked projects and narrow the 0.0-point reporting gap in the leading red project.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63C5F1-360F-4614-BAC8-54F4143C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0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11111"/>
                </a:solidFill>
              </a:defRPr>
            </a:pPr>
            <a:r>
              <a:rPr sz="1575">
                <a:solidFill>
                  <a:srgbClr val="111111"/>
                </a:solidFill>
              </a:rPr>
              <a:t>Project Plan B should stay on the watchlist next month because it remains undefined and still carries a 0-point gap between weekly and task-level progress.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2577C0-F6C1-4C77-81C0-38003DD62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436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5F6368"/>
                </a:solidFill>
              </a:defRPr>
            </a:pPr>
            <a:r>
              <a:rPr sz="1125">
                <a:solidFill>
                  <a:srgbClr val="5F636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267430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2026-07-09T15:45:56.7040000Z</dcterms:created>
  <dcterms:modified xsi:type="dcterms:W3CDTF">2026-07-09T15:45:56.7040000Z</dcterms:modified>
</coreProperties>
</file>