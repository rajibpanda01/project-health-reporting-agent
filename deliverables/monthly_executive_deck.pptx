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40953677414e9c" /><Relationship Type="http://schemas.openxmlformats.org/officeDocument/2006/relationships/extended-properties" Target="/docProps/app.xml" Id="R72c9ab67f32d480d" /><Relationship Type="http://schemas.openxmlformats.org/officeDocument/2006/relationships/officeDocument" Target="/ppt/presentation.xml" Id="R2b79756cf90e4c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5ed5bcb63b4bdf"/>
  </p:sldMasterIdLst>
  <p:notesMasterIdLst>
    <p:notesMasterId xmlns:r="http://schemas.openxmlformats.org/officeDocument/2006/relationships" r:id="R8e02a1af5e5147c5"/>
  </p:notesMasterIdLst>
  <p:sldIdLst>
    <p:sldId xmlns:r="http://schemas.openxmlformats.org/officeDocument/2006/relationships" id="256" r:id="Ra121c8bd052f49ae"/>
    <p:sldId xmlns:r="http://schemas.openxmlformats.org/officeDocument/2006/relationships" id="257" r:id="R4ab14d5bb97f4f3b"/>
    <p:sldId xmlns:r="http://schemas.openxmlformats.org/officeDocument/2006/relationships" id="258" r:id="Ra60d4e7917684d3e"/>
    <p:sldId xmlns:r="http://schemas.openxmlformats.org/officeDocument/2006/relationships" id="259" r:id="R43d159776cae4557"/>
    <p:sldId xmlns:r="http://schemas.openxmlformats.org/officeDocument/2006/relationships" id="260" r:id="R8356fc7432c04d19"/>
    <p:sldId xmlns:r="http://schemas.openxmlformats.org/officeDocument/2006/relationships" id="261" r:id="Rb6764d34ae2340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985ca9c38643ad" /><Relationship Type="http://schemas.openxmlformats.org/officeDocument/2006/relationships/slideMaster" Target="/ppt/slideMasters/slideMaster1.xml" Id="R565ed5bcb63b4bdf" /><Relationship Type="http://schemas.openxmlformats.org/officeDocument/2006/relationships/notesMaster" Target="/ppt/notesMasters/notesMaster1.xml" Id="R8e02a1af5e5147c5" /><Relationship Type="http://schemas.openxmlformats.org/officeDocument/2006/relationships/presProps" Target="/ppt/presProps.xml" Id="R0dd0f4ec40d64c9f" /><Relationship Type="http://schemas.openxmlformats.org/officeDocument/2006/relationships/tableStyles" Target="/ppt/tableStyles.xml" Id="Rcd9102662dbe418c" /><Relationship Type="http://schemas.openxmlformats.org/officeDocument/2006/relationships/slide" Target="/ppt/slides/slide1.xml" Id="Ra121c8bd052f49ae" /><Relationship Type="http://schemas.openxmlformats.org/officeDocument/2006/relationships/slide" Target="/ppt/slides/slide2.xml" Id="R4ab14d5bb97f4f3b" /><Relationship Type="http://schemas.openxmlformats.org/officeDocument/2006/relationships/slide" Target="/ppt/slides/slide3.xml" Id="Ra60d4e7917684d3e" /><Relationship Type="http://schemas.openxmlformats.org/officeDocument/2006/relationships/slide" Target="/ppt/slides/slide4.xml" Id="R43d159776cae4557" /><Relationship Type="http://schemas.openxmlformats.org/officeDocument/2006/relationships/slide" Target="/ppt/slides/slide5.xml" Id="R8356fc7432c04d19" /><Relationship Type="http://schemas.openxmlformats.org/officeDocument/2006/relationships/slide" Target="/ppt/slides/slide6.xml" Id="Rb6764d34ae23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4cdc0401141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be2f0e9234792" /><Relationship Type="http://schemas.openxmlformats.org/officeDocument/2006/relationships/notesMaster" Target="/ppt/notesMasters/notesMaster1.xml" Id="R638fe288e0c547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3e336fc69c4037" /><Relationship Type="http://schemas.openxmlformats.org/officeDocument/2006/relationships/notesMaster" Target="/ppt/notesMasters/notesMaster1.xml" Id="R32296168719c45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d63591f3a4df9" /><Relationship Type="http://schemas.openxmlformats.org/officeDocument/2006/relationships/notesMaster" Target="/ppt/notesMasters/notesMaster1.xml" Id="Rae817ac720f843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92f31cd42a458a" /><Relationship Type="http://schemas.openxmlformats.org/officeDocument/2006/relationships/notesMaster" Target="/ppt/notesMasters/notesMaster1.xml" Id="R1c7477b616b343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39c4c9f3094886" /><Relationship Type="http://schemas.openxmlformats.org/officeDocument/2006/relationships/notesMaster" Target="/ppt/notesMasters/notesMaster1.xml" Id="R67a02d6b1540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29dcdf06944df7" /><Relationship Type="http://schemas.openxmlformats.org/officeDocument/2006/relationships/notesMaster" Target="/ppt/notesMasters/notesMaster1.xml" Id="R07977e9a15d747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f34a71596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211c3a30e475e" /><Relationship Type="http://schemas.openxmlformats.org/officeDocument/2006/relationships/slideLayout" Target="/ppt/slideLayouts/slideLayout1.xml" Id="R8e8db3ad71df4a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8db3ad71df4a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caf283e44845" /><Relationship Type="http://schemas.openxmlformats.org/officeDocument/2006/relationships/notesSlide" Target="/ppt/notesSlides/notesSlide1.xml" Id="R7fb099bfd595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a7d573c21499f" /><Relationship Type="http://schemas.openxmlformats.org/officeDocument/2006/relationships/notesSlide" Target="/ppt/notesSlides/notesSlide2.xml" Id="Rb77747b02a28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d42ce695443a0" /><Relationship Type="http://schemas.openxmlformats.org/officeDocument/2006/relationships/notesSlide" Target="/ppt/notesSlides/notesSlide3.xml" Id="R8abdcb63de4f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e22f6a7d14030" /><Relationship Type="http://schemas.openxmlformats.org/officeDocument/2006/relationships/notesSlide" Target="/ppt/notesSlides/notesSlide4.xml" Id="R03e1cf4fa11e4b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704178f904267" /><Relationship Type="http://schemas.openxmlformats.org/officeDocument/2006/relationships/notesSlide" Target="/ppt/notesSlides/notesSlide5.xml" Id="R6a4109365c7f44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82452ed244d24" /><Relationship Type="http://schemas.openxmlformats.org/officeDocument/2006/relationships/notesSlide" Target="/ppt/notesSlides/notesSlide6.xml" Id="Rea8ec487d00b42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A25EC-A2EB-4BE5-B7FC-C96B5D1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4D959-5022-45D6-ACDF-A6EC08F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Automated monthly client-ready view generated from the analyzed project plans.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6FE76-66F3-4A1F-9F8E-D0088DE4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25347-A499-4ABF-A324-8586D14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F2258-F544-418D-9652-1E68CD1B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D6A9E-E2FC-4903-A0B6-121EE01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DF534-1803-46EB-A806-213BBC34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B4965-8CD4-459C-9283-37502B1D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9EE5D-8265-413F-8208-A09028D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7BD07-4B49-4371-A38E-0ABD0037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BC256-2DA6-4C48-BB3C-CBD9636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BF64A-31E3-4885-9CA3-E1976F6A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7CC"/>
          </a:solidFill>
          <a:ln xmlns:a="http://schemas.openxmlformats.org/drawingml/2006/main" w="0">
            <a:solidFill>
              <a:srgbClr val="F8D7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319DD-8877-470E-B6B5-0922EEF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EAB1F-264A-4A21-9551-DC94BB9D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B2955-39CC-4722-B348-AB6B499C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D4DC4-5F6E-471E-B8B5-A9580709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66.7% of analyzed views are currently red, which indicates that schedule recovery and execution control need executive attention before the next client reporting cycle.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3DF30-C9EB-4154-A3FF-CFEEA52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200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D6686-7BCC-48C6-91C9-173015AA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This month at a glance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E743F-8F0D-4D76-A861-1BEA44CD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571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Schedule is the most common lead driver.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Milestone pressure is the next-most common concern across the current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CRM Upgrade remains red and should stay on the next escalation review list.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3E434-1CCB-4A5E-BAA4-F7306FAA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9648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3A65A-A93C-423E-BC40-24134B3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Portfolio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0A292-9260-4ECB-9374-8B25F402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RAG distribution, average score, and model validation point to a portfolio that is broadly under delivery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63C40-1EEC-4CF4-8077-BEC1F4FD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9055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C4FA-9B79-41B6-BBD6-3E520CC8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RAG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29480-6446-4ACD-9BC6-E2DC571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5B356-A060-4620-9EE8-173D57DA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58B3-D59C-46B7-9D7B-6380766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Green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662CE-19BE-4B7A-95EE-A9559E62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A06A4-C082-4CBB-81A8-81290078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24FA4-2B30-44CE-AAA8-87410A51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E77D-D7C3-4B42-B2CF-3FBD8F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1485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C3C00-E722-4373-B591-DFDAA72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4B69D-37D4-4A54-8089-DE2ADA1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C165F-A94A-4B78-A40B-4F3AFD3C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5029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3 project plans were analyzed in this run, and every current view is red or amber-weighted enough to need active leadership attention.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A4592-A478-4B47-AF60-4EEB772E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19250"/>
            <a:ext cx="2209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24638-A8AE-4F7D-BCB0-15F56F48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907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62.1/100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F0D468-AE58-4BF1-B515-A9335F6E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Overall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EBBD7-ED12-456D-9170-709D252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2057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DB778-82CF-40A0-96EE-0418388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907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32E49-6894-4FB5-85D5-BC5F6AB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Validation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CED0-FFA9-4F46-A920-A934C67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4386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The average score across all 3 analyzed project plans is 62.1/100. Validation against the embedded workbook health labels holds at 67%, which is directionally useful for leadership screening while keeping the reasoning transparent.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01F3D-3B23-4A78-9F3A-E53DEF7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1277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9F2BF-A3BC-4A86-9FF6-1578C43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Emerging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D5D9A-8343-479A-B901-D2CBA6E4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Delay, budget burn, staffing pressure, and stakeholder confidence are emerging together rather than as isolated signals.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B176A-B52F-4FFC-9D7D-B53B24B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36DE6-A189-4D1F-9F96-20301491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E7CF0-10F3-498B-B498-E0C72177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Budget Burn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9E573-B25A-4558-9ECF-A6540BAF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621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05DE4-67E5-4321-B761-6243D38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481C"/>
                </a:solidFill>
              </a:defRPr>
            </a:pPr>
            <a:r>
              <a:rPr sz="2550" b="1">
                <a:solidFill>
                  <a:srgbClr val="D9481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F5D9C-E927-4AA7-830B-0A937B2B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Schedule Delays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42A6F-0FC4-4EF6-B59E-F985FF45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3A83D-E7B5-4FAC-889C-7B6FFFC4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D21EE-57AA-4982-BA30-8AA671A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Resource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82882-82A2-4326-8BDE-C8BE280D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55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45F7E-BD3D-4D29-A6B0-25E0DEB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242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4B789-4E88-466B-9F60-2B249CB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2209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368"/>
                </a:solidFill>
              </a:defRPr>
            </a:pPr>
            <a:r>
              <a:rPr sz="1350">
                <a:solidFill>
                  <a:srgbClr val="5F6368"/>
                </a:solidFill>
              </a:rPr>
              <a:t>Stakeholder Concerns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BCD5C-3A46-4E54-8FBD-93D432EA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124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F644A-9444-4699-B1F1-33517F50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Risk 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77600-A45E-417A-8266-B4B0FFFF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3434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are already more than two weeks behind, and 2 are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1 projects also carry two or more critical blockers, which means the schedule risk is likely to stay elevated unless escalation gets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Resource utilization above 90% and neutral or negative stakeholder sentiment show that the pressure is visible both inside the delivery teams and with client-facing sponsors.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05591-E96D-4ED7-AA9C-D6B765D4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4115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793CC-7FE2-4378-87D0-934AE638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Critical Projects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E1DA2-01BF-4834-81EF-121A4AB7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Top five red projects by score, ranked by the severity of the current delivery signal.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581150"/>
          <a:ext xmlns:a="http://schemas.openxmlformats.org/drawingml/2006/main" cx="1080135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1047750"/>
                <a:gridCol w="6705600"/>
              </a:tblGrid>
              <a:tr h="1333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11111"/>
                          </a:solidFill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CRM Upgrade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91.1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26 points and the project is 18 days behind schedule</a:t>
                      </a:r>
                    </a:p>
                  </a:txBody>
                  <a:tcPr marL="91440" marR="91440" marT="45720" marB="45720"/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ERP Migration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74.4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Progress trails plan by 15 points and the project is 12 days behind schedule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E84CD-E883-45D7-9A49-2E6D5DC2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These projects should be reviewed first in the next escalation cadence because they combine the highest risk scores with clear delivery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10B07-FDCD-4EFD-8EDE-9CE93AF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38432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A8087-BC35-45AD-A40B-BE23D9E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BF07-AE11-4986-8C8E-D14D84A7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next operating cycle should focus on recovery discipline, blocker escalation, and cleaner execution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2FBF-F3A6-4AAB-BC26-C033D9F9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CBE79-A969-4405-88F8-4C382D93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3CA57-7674-4AC7-B3BC-44B57EB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90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Increase staffing where utilization is already above safe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B1DA5-201C-4041-BFBF-05FA18B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Reassign or add capacity to the most constrained plans before schedule recovery work pushes the same teams further behind.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5736-1AD0-4622-828F-E2A2E664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12CCE-7635-4F3E-AD25-6C8EEB24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E3015-E200-4E28-8483-38CB997E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Escalate blocked projects through a daily unblock cadence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243D1-6479-4D02-8CC1-CB124FA2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Use a standing review for critical blockers and P1 issues so execution stalls do not sit inside weekly status reports.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B5D7E-8724-4BD1-B2D7-9A8376C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080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104BB-FBE7-45A3-8B26-3FC6742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481C"/>
                </a:solidFill>
              </a:defRPr>
            </a:pPr>
            <a:r>
              <a:rPr sz="1800" b="1">
                <a:solidFill>
                  <a:srgbClr val="D9481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702A5-D6D0-453E-B1BD-FEDD6F24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Rebaseline delayed milestones and enforce dated recovery plans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F3B00-75A3-4F6F-BC44-9B9205B7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863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Reset dates at milestone level for the top red projects and review burn-versus-progress weekly until the gap narrows.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4391-6089-49BF-A09E-B03EA56C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5948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F3982-9DE8-462F-89EB-FA0C8CA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Next Month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D006C-7CF2-49F2-A343-29DD39F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368"/>
                </a:solidFill>
              </a:defRPr>
            </a:pPr>
            <a:r>
              <a:rPr sz="1500">
                <a:solidFill>
                  <a:srgbClr val="5F6368"/>
                </a:solidFill>
              </a:rPr>
              <a:t>The near-term forecast improves only if the current red watchlist receives faster recovery actions than it did this month.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75EE6-8DD5-427E-AA6D-B61654D9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686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0">
            <a:solidFill>
              <a:srgbClr val="F1F3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95767-886A-46B1-BC6F-5141AD4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C2CBD-1B35-4328-9851-AD871C78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9814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The portfolio should remain mixed next month, but several amber projects could still move red if recovery plans are not enforced.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E48D9-D51C-4E57-BB1C-BD02582C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753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9E2"/>
          </a:solidFill>
          <a:ln xmlns:a="http://schemas.openxmlformats.org/drawingml/2006/main" w="0">
            <a:solidFill>
              <a:srgbClr val="FDE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F4073-0D9B-4E8C-88CC-A82757A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Expected improvements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272D2-B416-43BF-9F3E-0400B6F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1. Re-baselining the top five red projects should slow further schedule deterioration across the 1 projects already delayed by more than 14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2. A tighter burn-versus-progress review should help contain the 2 projects currently spending ahead of delivery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3. Daily blocker escalation and better status hygiene should improve confidence on the 1 heavily blocked projects and narrow the 0.0-point reporting gap in the leading red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173F7-AACD-4865-9F3A-7B45404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080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Project Plan B should stay on the watchlist next month because it remains undefined and still carries a 0-point gap between weekly and task-level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C3210-C374-4202-A762-AAD5A5C0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5F6368"/>
                </a:solidFill>
              </a:defRPr>
            </a:pPr>
            <a:r>
              <a:rPr sz="1125">
                <a:solidFill>
                  <a:srgbClr val="5F636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2518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2026-07-09T15:50:07.7820000Z</dcterms:created>
  <dcterms:modified xsi:type="dcterms:W3CDTF">2026-07-09T15:50:07.7820000Z</dcterms:modified>
</coreProperties>
</file>