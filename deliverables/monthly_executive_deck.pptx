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21a9628461475a" /><Relationship Type="http://schemas.openxmlformats.org/officeDocument/2006/relationships/extended-properties" Target="/docProps/app.xml" Id="R3dfb2798eed0479d" /><Relationship Type="http://schemas.openxmlformats.org/officeDocument/2006/relationships/officeDocument" Target="/ppt/presentation.xml" Id="Rdaf7012c576f4a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5d956a85be4f4a"/>
  </p:sldMasterIdLst>
  <p:notesMasterIdLst>
    <p:notesMasterId xmlns:r="http://schemas.openxmlformats.org/officeDocument/2006/relationships" r:id="R325153df789c46cf"/>
  </p:notesMasterIdLst>
  <p:sldIdLst>
    <p:sldId xmlns:r="http://schemas.openxmlformats.org/officeDocument/2006/relationships" id="256" r:id="R75de0b4b37a24116"/>
    <p:sldId xmlns:r="http://schemas.openxmlformats.org/officeDocument/2006/relationships" id="257" r:id="R19b28f3176a44e93"/>
    <p:sldId xmlns:r="http://schemas.openxmlformats.org/officeDocument/2006/relationships" id="258" r:id="R67bf64ee242f4679"/>
    <p:sldId xmlns:r="http://schemas.openxmlformats.org/officeDocument/2006/relationships" id="259" r:id="R6cb3b0e084f842c8"/>
    <p:sldId xmlns:r="http://schemas.openxmlformats.org/officeDocument/2006/relationships" id="260" r:id="R3ea11a3066df4351"/>
    <p:sldId xmlns:r="http://schemas.openxmlformats.org/officeDocument/2006/relationships" id="261" r:id="R200987fec2f943d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93ccd342ab4e54" /><Relationship Type="http://schemas.openxmlformats.org/officeDocument/2006/relationships/slideMaster" Target="/ppt/slideMasters/slideMaster1.xml" Id="R595d956a85be4f4a" /><Relationship Type="http://schemas.openxmlformats.org/officeDocument/2006/relationships/notesMaster" Target="/ppt/notesMasters/notesMaster1.xml" Id="R325153df789c46cf" /><Relationship Type="http://schemas.openxmlformats.org/officeDocument/2006/relationships/presProps" Target="/ppt/presProps.xml" Id="Rdb96b26fcbdd41c6" /><Relationship Type="http://schemas.openxmlformats.org/officeDocument/2006/relationships/tableStyles" Target="/ppt/tableStyles.xml" Id="R5ee6b8a29e374085" /><Relationship Type="http://schemas.openxmlformats.org/officeDocument/2006/relationships/slide" Target="/ppt/slides/slide1.xml" Id="R75de0b4b37a24116" /><Relationship Type="http://schemas.openxmlformats.org/officeDocument/2006/relationships/slide" Target="/ppt/slides/slide2.xml" Id="R19b28f3176a44e93" /><Relationship Type="http://schemas.openxmlformats.org/officeDocument/2006/relationships/slide" Target="/ppt/slides/slide3.xml" Id="R67bf64ee242f4679" /><Relationship Type="http://schemas.openxmlformats.org/officeDocument/2006/relationships/slide" Target="/ppt/slides/slide4.xml" Id="R6cb3b0e084f842c8" /><Relationship Type="http://schemas.openxmlformats.org/officeDocument/2006/relationships/slide" Target="/ppt/slides/slide5.xml" Id="R3ea11a3066df4351" /><Relationship Type="http://schemas.openxmlformats.org/officeDocument/2006/relationships/slide" Target="/ppt/slides/slide6.xml" Id="R200987fec2f943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7b4bded40e49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23851f52c94bdd" /><Relationship Type="http://schemas.openxmlformats.org/officeDocument/2006/relationships/notesMaster" Target="/ppt/notesMasters/notesMaster1.xml" Id="R1cf7c203a4bf4f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4f691a5b704d62" /><Relationship Type="http://schemas.openxmlformats.org/officeDocument/2006/relationships/notesMaster" Target="/ppt/notesMasters/notesMaster1.xml" Id="R68aadb9d9e6140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5df455d61c46bd" /><Relationship Type="http://schemas.openxmlformats.org/officeDocument/2006/relationships/notesMaster" Target="/ppt/notesMasters/notesMaster1.xml" Id="R77e94dafaeef4f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06a59d7ae184f8b" /><Relationship Type="http://schemas.openxmlformats.org/officeDocument/2006/relationships/notesMaster" Target="/ppt/notesMasters/notesMaster1.xml" Id="Rc26b63f3e3e74a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426226fccf4e5a" /><Relationship Type="http://schemas.openxmlformats.org/officeDocument/2006/relationships/notesMaster" Target="/ppt/notesMasters/notesMaster1.xml" Id="Reba7c64afeec42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bce17ccb714674" /><Relationship Type="http://schemas.openxmlformats.org/officeDocument/2006/relationships/notesMaster" Target="/ppt/notesMasters/notesMaster1.xml" Id="Rbbe3f0adcc2a4b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cfa4d79c5844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40572d51cd4b4b" /><Relationship Type="http://schemas.openxmlformats.org/officeDocument/2006/relationships/slideLayout" Target="/ppt/slideLayouts/slideLayout1.xml" Id="R4dc72d49d0c8404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c72d49d0c840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f6daf465d4404" /><Relationship Type="http://schemas.openxmlformats.org/officeDocument/2006/relationships/notesSlide" Target="/ppt/notesSlides/notesSlide1.xml" Id="R81fc96c0f6964c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fc6ed4001a4962" /><Relationship Type="http://schemas.openxmlformats.org/officeDocument/2006/relationships/notesSlide" Target="/ppt/notesSlides/notesSlide2.xml" Id="R36a58d4104e84d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24e236c3774d09" /><Relationship Type="http://schemas.openxmlformats.org/officeDocument/2006/relationships/notesSlide" Target="/ppt/notesSlides/notesSlide3.xml" Id="Rb6fc9e9f554c4d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42fd433a34cd1" /><Relationship Type="http://schemas.openxmlformats.org/officeDocument/2006/relationships/notesSlide" Target="/ppt/notesSlides/notesSlide4.xml" Id="R32c9edb80ba543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4a70f3cf446df" /><Relationship Type="http://schemas.openxmlformats.org/officeDocument/2006/relationships/notesSlide" Target="/ppt/notesSlides/notesSlide5.xml" Id="R7287778aed7c48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23fe332b6946cd" /><Relationship Type="http://schemas.openxmlformats.org/officeDocument/2006/relationships/notesSlide" Target="/ppt/notesSlides/notesSlide6.xml" Id="Rc921ba6e771143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0DEDDC-FC35-4447-AA50-21C5D43E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Executive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33499-8758-4AA5-A009-8A06E7DB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Automated monthly client-ready view generated from the analyzed project plans.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AB8801-E00D-402A-9A6C-C425CA17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26B2A0-36F6-4E50-AF11-E9768BE9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3DB91-3168-476F-96C3-33DAD89F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Projects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FFD92-EC8D-4EDF-968E-32A9E996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108A8-ADB0-4037-9911-BAA9A0EF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09BC83-4A47-4C7F-BA2E-8E08B894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Green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B88E03-F659-4039-A603-3E433C02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D74D12-FE8C-4270-8A4D-1470F851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48AFDC-9B35-4B35-A246-B71B4620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Amber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60880F-EF85-49FF-BC6E-5D9CB62A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D7CC"/>
          </a:solidFill>
          <a:ln xmlns:a="http://schemas.openxmlformats.org/drawingml/2006/main" w="0">
            <a:solidFill>
              <a:srgbClr val="F8D7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CC39E8-39B2-4C78-97CC-FB1976CA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AD2E71-CFED-40EE-81BA-F3C81621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C203CD-7F62-4F5A-A653-430B1981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147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C3FE92-FF2D-411D-845E-46A35B04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43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11111"/>
                </a:solidFill>
              </a:defRPr>
            </a:pPr>
            <a:r>
              <a:rPr sz="1800">
                <a:solidFill>
                  <a:srgbClr val="111111"/>
                </a:solidFill>
              </a:rPr>
              <a:t>66.7% of analyzed views are currently red, which indicates that schedule recovery and execution control need executive attention before the next client reporting cycle.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2AE0DE-70F3-4672-947F-4A3C2ABB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200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C22219-3FAC-4DB0-B266-D9D5EA55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38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This month at a glance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374A8F-1E3E-47C7-B162-BA6F9FA4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257175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Schedule is the most common lead driver.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Milestone pressure is the next-most common concern across the current plans.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CRM Upgrade remains red and should stay on the next escalation review list.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8E7153-1852-4C0C-8EDF-084EED16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84119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DA2381-03F1-4675-A05B-10EF0055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Portfolio Health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3CBAB-5FE0-4BF8-A6D9-B09C8E78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RAG distribution, average score, and model validation point to a portfolio that is broadly under delivery pressure.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D9BAD-4C8C-4612-A130-8E671355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5905500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F46B7D-3AC5-4B58-A117-92399CBF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RAG Distribution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788C4-DDDE-4222-B2FC-351B76E4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5F5ED0-B230-45F6-8AF5-66CDEF6A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B6CA71-B609-4143-9B5B-3C99AD80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Green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263FF4-C954-4511-B94C-89A246D6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9927E-F905-4D61-94E0-AEDA51A3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2AFFE1-5A88-424B-B3A3-B986FD83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Amber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BC34AB-1CC5-4F22-8979-214919CD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598B4-A5BE-4153-A9CA-6313A0D1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E9F609-1663-48EE-9639-80747A29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A1FD20-09FD-4F1D-8D67-0BA4B02C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5029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3 project plans were analyzed in this run, and every current view is red or amber-weighted enough to need active leadership attention.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12E91A-0931-4E30-95E8-5464D601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19250"/>
            <a:ext cx="2209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19EF69-1B30-4575-B4BC-7CD433CC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7907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62.1/100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9A27FA-EE00-4874-96FC-CE493356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1866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Overall 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7C9604-7487-411A-B709-1077FD3B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19250"/>
            <a:ext cx="20574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885531-7E19-4A7A-A582-46B28C7D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907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67%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837A2D-CCC8-49BC-8704-E17A2B20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4003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Validation Accuracy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083EEA-1235-4E78-87D1-A5FC3741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62350"/>
            <a:ext cx="44386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111"/>
                </a:solidFill>
              </a:defRPr>
            </a:pPr>
            <a:r>
              <a:rPr sz="1575">
                <a:solidFill>
                  <a:srgbClr val="111111"/>
                </a:solidFill>
              </a:rPr>
              <a:t>The average score across all 3 analyzed project plans is 62.1/100. Validation against the embedded workbook health labels holds at 67%, which is directionally useful for leadership screening while keeping the reasoning transparent.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974AFF-4135-4EF9-BD40-3FA20325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036880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B406FE-7731-4A86-89EB-C379C05C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Emerging Risks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30DBA2-08D8-4CCB-920A-53D24CC9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Delay, budget burn, staffing pressure, and stakeholder confidence are emerging together rather than as isolated signals.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5C9E9B-66B6-4E3F-BFF6-C3991AE7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A0755-5DC4-4656-9147-83941C82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F6A42-EFDB-4DAF-AD75-3F17AA8A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Budget Burn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39A0A-55DA-49AB-8348-B67ECD23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5621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3C5CA2-9358-4F78-8C03-43B75C95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335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4BE78B-79A5-4539-BCFA-82B35102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431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Schedule Delays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5938A7-DE2E-48E5-8F26-B80DDAB5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528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439A7E-B42D-45A8-BDBB-850FCB90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C5E63-C403-4D64-A374-A88B8C38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338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Resource Issues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B71FAE-E558-4B13-B49D-3CC92619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528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2073F2-C82A-4D2E-B37C-71A3EAFC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242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D30618-1504-4462-820A-F7E53E09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338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Stakeholder Concerns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046990-F428-400A-B255-2087138D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62100"/>
            <a:ext cx="51244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A0770-59FC-401B-8461-FDD89136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28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Risk interpretation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CA6DB2-1BE0-464F-A3D1-BCCED8ED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66950"/>
            <a:ext cx="43434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1 projects are already more than two weeks behind, and 2 are spending ahead of delivery progress.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1 projects also carry two or more critical blockers, which means the schedule risk is likely to stay elevated unless escalation gets faster.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Resource utilization above 90% and neutral or negative stakeholder sentiment show that the pressure is visible both inside the delivery teams and with client-facing sponsors.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AF907C-5C02-4461-A42F-55510A15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454437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67B432-ED01-4633-92D4-95DC6227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Critical Projects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7CD353-3957-40F2-99B1-42469834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Top five red projects by score, ranked by the severity of the current delivery signal.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457200" y="1581150"/>
          <a:ext xmlns:a="http://schemas.openxmlformats.org/drawingml/2006/main" cx="10801350" cy="4000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48000"/>
                <a:gridCol w="1047750"/>
                <a:gridCol w="6705600"/>
              </a:tblGrid>
              <a:tr h="1333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Project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Reason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</a:tr>
              <a:tr h="1333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CRM Upgrade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91.1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Progress trails plan by 26 points and the project is 18 days behind schedule</a:t>
                      </a:r>
                    </a:p>
                  </a:txBody>
                  <a:tcPr marL="91440" marR="91440" marT="45720" marB="45720"/>
                </a:tc>
              </a:tr>
              <a:tr h="133350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ERP Migration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74.4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Progress trails plan by 15 points and the project is 12 days behind schedule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DFAAF1-97D9-416E-A5A7-33DE583C4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These projects should be reviewed first in the next escalation cadence because they combine the highest risk scores with clear delivery explanations.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BA8A1-2263-4D06-A76A-4844837D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048764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05EA5A-EA5F-4603-BBE7-8272E3F3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Recommendations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426AA-6DA0-4D72-889C-175BD7073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The next operating cycle should focus on recovery discipline, blocker escalation, and cleaner execution reporting.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249BD0-F641-4942-B40F-397CE32D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EBDC5C-80B1-492C-BB89-2DAAD8F4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434819-9B71-408D-A868-E23736B1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907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Increase staffing where utilization is already above safe limits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DBFD05-41AA-4EB0-A692-42789BD3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15265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Reassign or add capacity to the most constrained plans before schedule recovery work pushes the same teams further behind.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5EEEFA-7847-44A8-98DD-DF0A170C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2895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09348-C924-4D3D-85E8-9D81038F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8800AB-6B31-4C45-9319-B71168A6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575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Escalate blocked projects through a daily unblock cadence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D34AF7-435B-4514-B99B-FB9832B3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1950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Use a standing review for critical blockers and P1 issues so execution stalls do not sit inside weekly status reports.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6461FC-8C29-4608-89C8-874D4CC0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78BEA8-72CE-4ABC-9B80-A1049D1A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7C4B9C-24FA-4035-8BCF-1D504D56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244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Rebaseline delayed milestones and enforce dated recovery plans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3B7B86-B7F7-4537-9C3D-CD31E13A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08635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Reset dates at milestone level for the top red projects and review burn-versus-progress weekly until the gap narrows.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027060-31F8-4F05-9100-CCE11D88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76030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B0DE99-2469-455F-9DA7-67527B39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Next Month Outlook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63508-B86B-47A5-B20B-99A42A57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The near-term forecast improves only if the current red watchlist receives faster recovery actions than it did this month.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1CBD66-5424-456F-8649-0FE031EB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4686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C8335-C7A7-4B7B-B341-327B2D86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Forecast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149D3-89A9-4378-9296-322883BF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39814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111"/>
                </a:solidFill>
              </a:defRPr>
            </a:pPr>
            <a:r>
              <a:rPr sz="1650">
                <a:solidFill>
                  <a:srgbClr val="111111"/>
                </a:solidFill>
              </a:rPr>
              <a:t>The portfolio should remain mixed next month, but several amber projects could still move red if recovery plans are not enforced.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9044A9-B538-4745-B0AA-A09946AA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00200"/>
            <a:ext cx="57531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DDC6A6-7D0A-446B-B29A-22B54C6A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8859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Expected improvements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9F01F-483E-4E5F-BE55-45EBF2FE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419350"/>
            <a:ext cx="4953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1. Re-baselining the top five red projects should slow further schedule deterioration across the 1 projects already delayed by more than 14 days.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2. A tighter burn-versus-progress review should help contain the 2 projects currently spending ahead of delivery progress.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3. Daily blocker escalation and better status hygiene should improve confidence on the 1 heavily blocked projects and narrow the 0.0-point reporting gap in the leading red project.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BC1E92-F153-414A-A521-25FF5E37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0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111"/>
                </a:solidFill>
              </a:defRPr>
            </a:pPr>
            <a:r>
              <a:rPr sz="1575">
                <a:solidFill>
                  <a:srgbClr val="111111"/>
                </a:solidFill>
              </a:rPr>
              <a:t>Project Plan B should stay on the watchlist next month because it remains undefined and still carries a 0-point gap between weekly and task-level progress.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2AD72C-EFDA-4166-9BB2-AE19C0F4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415035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2026-07-08T05:10:58.0890000Z</dcterms:created>
  <dcterms:modified xsi:type="dcterms:W3CDTF">2026-07-08T05:10:58.0890000Z</dcterms:modified>
</coreProperties>
</file>