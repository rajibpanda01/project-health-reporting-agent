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3e1901ea47846cc" /><Relationship Type="http://schemas.openxmlformats.org/officeDocument/2006/relationships/extended-properties" Target="/docProps/app.xml" Id="R3a76cf28a7fe40d7" /><Relationship Type="http://schemas.openxmlformats.org/officeDocument/2006/relationships/officeDocument" Target="/ppt/presentation.xml" Id="R3a8666d5afd445a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f75b1f050064ef2"/>
  </p:sldMasterIdLst>
  <p:notesMasterIdLst>
    <p:notesMasterId xmlns:r="http://schemas.openxmlformats.org/officeDocument/2006/relationships" r:id="R5171b187050a4b86"/>
  </p:notesMasterIdLst>
  <p:sldIdLst>
    <p:sldId xmlns:r="http://schemas.openxmlformats.org/officeDocument/2006/relationships" id="256" r:id="Rcadd951c3ac04895"/>
    <p:sldId xmlns:r="http://schemas.openxmlformats.org/officeDocument/2006/relationships" id="257" r:id="R9ab2d511d127444d"/>
    <p:sldId xmlns:r="http://schemas.openxmlformats.org/officeDocument/2006/relationships" id="258" r:id="R91e15e892652446f"/>
    <p:sldId xmlns:r="http://schemas.openxmlformats.org/officeDocument/2006/relationships" id="259" r:id="R5522b41d7ae2467a"/>
    <p:sldId xmlns:r="http://schemas.openxmlformats.org/officeDocument/2006/relationships" id="260" r:id="R3dd74079c7684c8b"/>
    <p:sldId xmlns:r="http://schemas.openxmlformats.org/officeDocument/2006/relationships" id="261" r:id="R2a3d2884a6504ef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cc6409104914030" /><Relationship Type="http://schemas.openxmlformats.org/officeDocument/2006/relationships/slideMaster" Target="/ppt/slideMasters/slideMaster1.xml" Id="R2f75b1f050064ef2" /><Relationship Type="http://schemas.openxmlformats.org/officeDocument/2006/relationships/notesMaster" Target="/ppt/notesMasters/notesMaster1.xml" Id="R5171b187050a4b86" /><Relationship Type="http://schemas.openxmlformats.org/officeDocument/2006/relationships/presProps" Target="/ppt/presProps.xml" Id="R97c614f3ba60466d" /><Relationship Type="http://schemas.openxmlformats.org/officeDocument/2006/relationships/tableStyles" Target="/ppt/tableStyles.xml" Id="Re615152884e546df" /><Relationship Type="http://schemas.openxmlformats.org/officeDocument/2006/relationships/slide" Target="/ppt/slides/slide1.xml" Id="Rcadd951c3ac04895" /><Relationship Type="http://schemas.openxmlformats.org/officeDocument/2006/relationships/slide" Target="/ppt/slides/slide2.xml" Id="R9ab2d511d127444d" /><Relationship Type="http://schemas.openxmlformats.org/officeDocument/2006/relationships/slide" Target="/ppt/slides/slide3.xml" Id="R91e15e892652446f" /><Relationship Type="http://schemas.openxmlformats.org/officeDocument/2006/relationships/slide" Target="/ppt/slides/slide4.xml" Id="R5522b41d7ae2467a" /><Relationship Type="http://schemas.openxmlformats.org/officeDocument/2006/relationships/slide" Target="/ppt/slides/slide5.xml" Id="R3dd74079c7684c8b" /><Relationship Type="http://schemas.openxmlformats.org/officeDocument/2006/relationships/slide" Target="/ppt/slides/slide6.xml" Id="R2a3d2884a6504ef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aefdd25b97143d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0bbc89f57f942da" /><Relationship Type="http://schemas.openxmlformats.org/officeDocument/2006/relationships/notesMaster" Target="/ppt/notesMasters/notesMaster1.xml" Id="R8b6f0b8b5d2346a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a466abba32d4b92" /><Relationship Type="http://schemas.openxmlformats.org/officeDocument/2006/relationships/notesMaster" Target="/ppt/notesMasters/notesMaster1.xml" Id="R27295c8039fe4f8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ab6f128f0114f99" /><Relationship Type="http://schemas.openxmlformats.org/officeDocument/2006/relationships/notesMaster" Target="/ppt/notesMasters/notesMaster1.xml" Id="R37c0c559491d454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5b4bb88a32a4071" /><Relationship Type="http://schemas.openxmlformats.org/officeDocument/2006/relationships/notesMaster" Target="/ppt/notesMasters/notesMaster1.xml" Id="R42e3e84b80d7402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39fa6b7685648ea" /><Relationship Type="http://schemas.openxmlformats.org/officeDocument/2006/relationships/notesMaster" Target="/ppt/notesMasters/notesMaster1.xml" Id="Rcad1e14e21094cb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de91e619c56469e" /><Relationship Type="http://schemas.openxmlformats.org/officeDocument/2006/relationships/notesMaster" Target="/ppt/notesMasters/notesMaster1.xml" Id="R8c18b4a9a0dd4db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a77b3997fc49b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a3e5236cd82461d" /><Relationship Type="http://schemas.openxmlformats.org/officeDocument/2006/relationships/slideLayout" Target="/ppt/slideLayouts/slideLayout1.xml" Id="Rf3866267ceb949b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3866267ceb949b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34c0b6e0c74e27" /><Relationship Type="http://schemas.openxmlformats.org/officeDocument/2006/relationships/notesSlide" Target="/ppt/notesSlides/notesSlide1.xml" Id="Rd5565646a916495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938a84e01f4f9a" /><Relationship Type="http://schemas.openxmlformats.org/officeDocument/2006/relationships/notesSlide" Target="/ppt/notesSlides/notesSlide2.xml" Id="R135b924981a3459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a06f765a104ec8" /><Relationship Type="http://schemas.openxmlformats.org/officeDocument/2006/relationships/notesSlide" Target="/ppt/notesSlides/notesSlide3.xml" Id="Rc351bfa918fc4d3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e19d53d95b4200" /><Relationship Type="http://schemas.openxmlformats.org/officeDocument/2006/relationships/notesSlide" Target="/ppt/notesSlides/notesSlide4.xml" Id="Rfe0804e351bb490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58c5c3260248a0" /><Relationship Type="http://schemas.openxmlformats.org/officeDocument/2006/relationships/notesSlide" Target="/ppt/notesSlides/notesSlide5.xml" Id="Rcbc613a52c57491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79cba5b5644d20" /><Relationship Type="http://schemas.openxmlformats.org/officeDocument/2006/relationships/notesSlide" Target="/ppt/notesSlides/notesSlide6.xml" Id="Ra5ece69dee8146f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BB3005F-0452-4467-951A-296D49E3D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838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Executive Summary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E77544-371E-44E5-B022-55A424B34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763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Automated monthly client-ready view generated from the analyzed project plans.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1F2EF8-B598-4D72-963A-522557EE7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85900"/>
            <a:ext cx="2571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1BF7C7-23EF-441A-A348-A3EC5E858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65CCA4-528A-4BA5-BF2E-0D22D9CDB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669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Projects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85D39B-8072-41FB-9591-CB3DBC330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485900"/>
            <a:ext cx="2571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9E2"/>
          </a:solidFill>
          <a:ln xmlns:a="http://schemas.openxmlformats.org/drawingml/2006/main" w="0">
            <a:solidFill>
              <a:srgbClr val="FDE9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E8993D-8C8E-4F52-9970-361E51DAC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6573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4F70DB-2A9A-49C4-AD36-8500385B7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2669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Green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AEEB51-3998-4F46-8675-13808E2DA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485900"/>
            <a:ext cx="2571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87DE10-7448-48EC-98C2-EA3C805A6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6573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441B69-1763-4060-8867-E42D38E67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2669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Amber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A0709D-8D70-470D-BB21-83FF5654C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485900"/>
            <a:ext cx="2571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D7CC"/>
          </a:solidFill>
          <a:ln xmlns:a="http://schemas.openxmlformats.org/drawingml/2006/main" w="0">
            <a:solidFill>
              <a:srgbClr val="F8D7C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E6FAF9-228F-43FB-A649-2027F5F9E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6573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D9481C"/>
                </a:solidFill>
              </a:defRPr>
            </a:pPr>
            <a:r>
              <a:rPr sz="2550" b="1">
                <a:solidFill>
                  <a:srgbClr val="D9481C"/>
                </a:solidFill>
              </a:rPr>
              <a:t>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8020AE-6F2D-4F4F-A7B0-CFE3EC8F0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669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Red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B2BDBA-2EB8-4A9E-8AD4-D6E0E4CC6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14700"/>
            <a:ext cx="1714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C3EF74-1F0A-4414-9984-80913E939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43300"/>
            <a:ext cx="723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11111"/>
                </a:solidFill>
              </a:defRPr>
            </a:pPr>
            <a:r>
              <a:rPr sz="1800">
                <a:solidFill>
                  <a:srgbClr val="111111"/>
                </a:solidFill>
              </a:rPr>
              <a:t>62.5% of analyzed views are currently red, which indicates that schedule recovery and execution control need executive attention before the next client reporting cycle.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62229D-67D5-4D31-BA8F-8473271FC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371850"/>
            <a:ext cx="32004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0A474D-9969-49A0-AA59-5E38BD2DB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6385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This month at a glance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D61884-CA3E-49CE-9486-8B67050F0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57650"/>
            <a:ext cx="257175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Schedule is the most common lead driver.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Milestone pressure is the next-most common concern across the current plans.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CRM Upgrade remains red and should stay on the next escalation review list.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806844-3434-4B09-86DE-664C140DA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436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5F6368"/>
                </a:solidFill>
              </a:defRPr>
            </a:pPr>
            <a:r>
              <a:rPr sz="1125">
                <a:solidFill>
                  <a:srgbClr val="5F6368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8853756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9A6A3F8-92E8-4DC3-9937-E34D12CAF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838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Portfolio Health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C642D2-879C-4B16-BCC7-0A50B4A54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763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RAG distribution, average score, and model validation point to a portfolio that is broadly under delivery pressure.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6B4514-6E5B-4133-AC0A-99612F4E8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6850"/>
            <a:ext cx="5905500" cy="451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5FA19F-D536-46F3-A0F9-AB291163D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764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RAG Distribution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6E61E9-2481-408F-85AB-75E7E2958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24100"/>
            <a:ext cx="14859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0E4F99-FC97-4680-B046-038B6FB5D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95550"/>
            <a:ext cx="114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C7FCDD-5118-4B0A-BC1C-A04613D89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0515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Green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19E97E-FBC4-47E0-969E-F7D547F55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324100"/>
            <a:ext cx="14859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302E15-EB5C-4A24-BFA0-81DF85709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495550"/>
            <a:ext cx="114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34B796-6E18-4053-A9DF-591AA4475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10515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Amber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062A81-E15A-41EE-8026-5533214DC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324100"/>
            <a:ext cx="14859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9E2"/>
          </a:solidFill>
          <a:ln xmlns:a="http://schemas.openxmlformats.org/drawingml/2006/main" w="0">
            <a:solidFill>
              <a:srgbClr val="FDE9E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D2CB91-EA1C-4B34-B6E4-883C73CA1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95550"/>
            <a:ext cx="114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D9481C"/>
                </a:solidFill>
              </a:defRPr>
            </a:pPr>
            <a:r>
              <a:rPr sz="2550" b="1">
                <a:solidFill>
                  <a:srgbClr val="D9481C"/>
                </a:solidFill>
              </a:rPr>
              <a:t>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487340-7779-4655-A43C-F67F1DBF5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10515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5C0E18-2725-4E00-A035-FBA717D35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76750"/>
            <a:ext cx="5029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111"/>
                </a:solidFill>
              </a:defRPr>
            </a:pPr>
            <a:r>
              <a:rPr sz="1500">
                <a:solidFill>
                  <a:srgbClr val="111111"/>
                </a:solidFill>
              </a:rPr>
              <a:t>8 project plans were analyzed in this run, and every current view is red or amber-weighted enough to need active leadership attention.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7D03A2-3704-456A-8DF4-DBD408202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619250"/>
            <a:ext cx="22098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6EF275-CC42-4F31-B32D-E238C6730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7907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57.3/100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BD8343-214B-4F31-86D0-D2993490D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400300"/>
            <a:ext cx="1866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Overall Score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678B5F-6B7E-4B3C-AAC4-F77DF49E1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619250"/>
            <a:ext cx="20574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9E2"/>
          </a:solidFill>
          <a:ln xmlns:a="http://schemas.openxmlformats.org/drawingml/2006/main" w="0">
            <a:solidFill>
              <a:srgbClr val="FDE9E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5239DD-4BEB-4C52-868A-F63267CC3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79070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D9481C"/>
                </a:solidFill>
              </a:defRPr>
            </a:pPr>
            <a:r>
              <a:rPr sz="2550" b="1">
                <a:solidFill>
                  <a:srgbClr val="D9481C"/>
                </a:solidFill>
              </a:rPr>
              <a:t>50%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4B6881-C518-4FC5-916B-D622433B5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400300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Validation Accuracy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AA2ABC-8934-4B3E-A58A-C439611CE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562350"/>
            <a:ext cx="44386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11111"/>
                </a:solidFill>
              </a:defRPr>
            </a:pPr>
            <a:r>
              <a:rPr sz="1575">
                <a:solidFill>
                  <a:srgbClr val="111111"/>
                </a:solidFill>
              </a:rPr>
              <a:t>The average score across all 8 analyzed project plans is 57.3/100. Validation against the embedded workbook health labels holds at 50%, which is directionally useful for leadership screening while keeping the reasoning transparent.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2DF855-EE48-48B8-A469-D900B151F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436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5F6368"/>
                </a:solidFill>
              </a:defRPr>
            </a:pPr>
            <a:r>
              <a:rPr sz="1125">
                <a:solidFill>
                  <a:srgbClr val="5F6368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4505993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19BEC6B-D891-420A-9FD4-9C8D1D9AF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838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Emerging Risks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F9D97F-A251-4DEA-A77F-587FE8C82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763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Delay, budget burn, staffing pressure, and stakeholder confidence are emerging together rather than as isolated signals.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04F114-346B-47A2-AF72-53E425E3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25527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6D0218-F2C6-4D65-A1B9-009FAF814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2209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E029E1-1970-4A2D-9297-338FFB426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43150"/>
            <a:ext cx="2209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Budget Burn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8A5E1D-2011-4E30-88D0-58674B982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562100"/>
            <a:ext cx="25527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9E2"/>
          </a:solidFill>
          <a:ln xmlns:a="http://schemas.openxmlformats.org/drawingml/2006/main" w="0">
            <a:solidFill>
              <a:srgbClr val="FDE9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E67E90-C039-4A2D-B06C-5D3DFA17E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33550"/>
            <a:ext cx="2209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D9481C"/>
                </a:solidFill>
              </a:defRPr>
            </a:pPr>
            <a:r>
              <a:rPr sz="2550" b="1">
                <a:solidFill>
                  <a:srgbClr val="D9481C"/>
                </a:solidFill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23E5F4-FB86-4187-A629-458B76B00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43150"/>
            <a:ext cx="2209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Schedule Delays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1E1EB9-3B13-4701-A434-002401FB0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52800"/>
            <a:ext cx="25527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DF7F39-ECBA-42AC-A7B5-FD008ABF6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24250"/>
            <a:ext cx="2209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710EF1-414C-4207-AC54-E74EA3FB7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33850"/>
            <a:ext cx="2209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Resource Issues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001BB9-B7D4-483E-9C26-2CBE27C86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352800"/>
            <a:ext cx="25527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C0AAB3-0277-4D24-8013-A51B9910C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524250"/>
            <a:ext cx="2209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98755E-36D8-424A-B552-426A58480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133850"/>
            <a:ext cx="2209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Stakeholder Concerns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3FCC63-6809-4779-9C02-B514883B6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562100"/>
            <a:ext cx="512445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1C7C3F-9AE6-4573-9D1D-102CA264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8288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Risk interpretation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96CBF1-DA19-4C7B-874C-81780E5B9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66950"/>
            <a:ext cx="434340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111"/>
                </a:solidFill>
              </a:defRPr>
            </a:pPr>
            <a:r>
              <a:rPr sz="1500">
                <a:solidFill>
                  <a:srgbClr val="111111"/>
                </a:solidFill>
              </a:rPr>
              <a:t>2 projects are already more than two weeks behind, and 5 are spending ahead of delivery progress.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>
                <a:solidFill>
                  <a:srgbClr val="111111"/>
                </a:solidFill>
              </a:defRPr>
            </a:pPr>
            <a:r>
              <a:rPr sz="1500">
                <a:solidFill>
                  <a:srgbClr val="111111"/>
                </a:solidFill>
              </a:rPr>
              <a:t>3 projects also carry two or more critical blockers, which means the schedule risk is likely to stay elevated unless escalation gets faster.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>
                <a:solidFill>
                  <a:srgbClr val="111111"/>
                </a:solidFill>
              </a:defRPr>
            </a:pPr>
            <a:r>
              <a:rPr sz="1500">
                <a:solidFill>
                  <a:srgbClr val="111111"/>
                </a:solidFill>
              </a:rPr>
              <a:t>Resource utilization above 90% and neutral or negative stakeholder sentiment show that the pressure is visible both inside the delivery teams and with client-facing sponsors.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93FBC7-79C2-47D1-BB53-2EBC30DDD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436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5F6368"/>
                </a:solidFill>
              </a:defRPr>
            </a:pPr>
            <a:r>
              <a:rPr sz="1125">
                <a:solidFill>
                  <a:srgbClr val="5F6368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607427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8193E53-5A1C-4489-8795-04D9FB1BE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838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Critical Projects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FECBEB-B47C-494B-93BF-B804206E3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763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Top five red projects by score, ranked by the severity of the current delivery signal.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457200" y="1581150"/>
          <a:ext xmlns:a="http://schemas.openxmlformats.org/drawingml/2006/main" cx="10801350" cy="4000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048000"/>
                <a:gridCol w="1047750"/>
                <a:gridCol w="6705600"/>
              </a:tblGrid>
              <a:tr h="66675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111111"/>
                          </a:solidFill>
                        </a:rPr>
                        <a:t>Project</a:t>
                      </a:r>
                    </a:p>
                  </a:txBody>
                  <a:tcPr marL="91440" marR="91440" marT="45720" marB="45720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111111"/>
                          </a:solidFill>
                        </a:rPr>
                        <a:t>Score</a:t>
                      </a:r>
                    </a:p>
                  </a:txBody>
                  <a:tcPr marL="91440" marR="91440" marT="45720" marB="45720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111111"/>
                          </a:solidFill>
                        </a:rPr>
                        <a:t>Reason</a:t>
                      </a:r>
                    </a:p>
                  </a:txBody>
                  <a:tcPr marL="91440" marR="91440" marT="45720" marB="45720">
                    <a:solidFill>
                      <a:srgbClr val="F1F3F4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CRM Upgrade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91.1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Progress trails plan by 26 points and the project is 18 days behind schedule</a:t>
                      </a:r>
                    </a:p>
                  </a:txBody>
                  <a:tcPr marL="91440" marR="91440" marT="45720" marB="45720"/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Vendor Risk Platform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85.2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Progress trails plan by 23 points and the project is 21 days behind schedule</a:t>
                      </a:r>
                    </a:p>
                  </a:txBody>
                  <a:tcPr marL="91440" marR="91440" marT="45720" marB="45720"/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Contract Lifecycle Mgmt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84.4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Progress trails plan by 14 points and the project is 14 days behind schedule</a:t>
                      </a:r>
                    </a:p>
                  </a:txBody>
                  <a:tcPr marL="91440" marR="91440" marT="45720" marB="45720"/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ERP Migration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74.4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Progress trails plan by 15 points and the project is 12 days behind schedule</a:t>
                      </a:r>
                    </a:p>
                  </a:txBody>
                  <a:tcPr marL="91440" marR="91440" marT="45720" marB="45720"/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Data Lake Modernization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27.9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40% of milestones are marked delayed and 80% are overdue as of 2026-07-08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A78D9C-387E-4CE7-BFA2-2633C3E2A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91200"/>
            <a:ext cx="933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111"/>
                </a:solidFill>
              </a:defRPr>
            </a:pPr>
            <a:r>
              <a:rPr sz="1500">
                <a:solidFill>
                  <a:srgbClr val="111111"/>
                </a:solidFill>
              </a:rPr>
              <a:t>These projects should be reviewed first in the next escalation cadence because they combine the highest risk scores with clear delivery explanations.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D7406E-CA53-4D76-9D55-3A7B6B738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436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5F6368"/>
                </a:solidFill>
              </a:defRPr>
            </a:pPr>
            <a:r>
              <a:rPr sz="1125">
                <a:solidFill>
                  <a:srgbClr val="5F6368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02508652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007352F-CB84-4AB3-9EE1-7CD08531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838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Recommendations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E84FD6-C200-4A62-8C7E-A829310B1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763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The next operating cycle should focus on recovery discipline, blocker escalation, and cleaner execution reporting.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F7586C-6D67-4BC1-AE9C-46775E94A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8013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9E2"/>
          </a:solidFill>
          <a:ln xmlns:a="http://schemas.openxmlformats.org/drawingml/2006/main" w="0">
            <a:solidFill>
              <a:srgbClr val="FDE9E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A2D741-3434-4BF8-9566-A62E5C705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05000"/>
            <a:ext cx="590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D9481C"/>
                </a:solidFill>
              </a:defRPr>
            </a:pPr>
            <a:r>
              <a:rPr sz="1800" b="1">
                <a:solidFill>
                  <a:srgbClr val="D9481C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7DD66E-8E43-4433-B402-A9A9C3B4C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7907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Increase staffing where utilization is already above safe limits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918370-DD68-4CAD-B648-3B1CF8293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152650"/>
            <a:ext cx="866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Reassign or add capacity to the most constrained plans before schedule recovery work pushes the same teams further behind.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002C8A-86E0-4EAB-B14C-14DB940E2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28950"/>
            <a:ext cx="108013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6732BE-73F8-42AE-8C0B-FC9976618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71850"/>
            <a:ext cx="590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D9481C"/>
                </a:solidFill>
              </a:defRPr>
            </a:pPr>
            <a:r>
              <a:rPr sz="1800" b="1">
                <a:solidFill>
                  <a:srgbClr val="D9481C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E8D04D-A770-4282-8185-038556696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5755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Escalate blocked projects through a daily unblock cadence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0B86DD-34A0-435A-97DE-9C5E22D49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619500"/>
            <a:ext cx="866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Use a standing review for critical blockers and P1 issues so execution stalls do not sit inside weekly status reports.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8429DF-BA34-46D1-838D-60E5CD0CC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95800"/>
            <a:ext cx="108013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8DA456-28F1-4574-A59D-6B9F2BA56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38700"/>
            <a:ext cx="590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D9481C"/>
                </a:solidFill>
              </a:defRPr>
            </a:pPr>
            <a:r>
              <a:rPr sz="1800" b="1">
                <a:solidFill>
                  <a:srgbClr val="D9481C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9F16ED-7B75-4909-809C-496E05729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7244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Rebaseline delayed milestones and enforce dated recovery plans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CB7310-CE23-4AA8-9B95-29088D1E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086350"/>
            <a:ext cx="866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Reset dates at milestone level for the top red projects and review burn-versus-progress weekly until the gap narrows.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EC5F42-ED25-4A26-AE80-004AAB479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436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5F6368"/>
                </a:solidFill>
              </a:defRPr>
            </a:pPr>
            <a:r>
              <a:rPr sz="1125">
                <a:solidFill>
                  <a:srgbClr val="5F6368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69752093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3B57B4B-61F7-45ED-8CDD-3FE40E0EC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838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Next Month Outlook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F3F817-17DD-489A-A265-917400FBE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763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The near-term forecast improves only if the current red watchlist receives faster recovery actions than it did this month.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8963CF-5713-496B-9EAB-DDCE49647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468630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BA9BBA-8DDA-404B-B189-8F8B25516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859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Forecast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0E55AE-FBC2-4CD8-9D78-B3F13ED80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43150"/>
            <a:ext cx="398145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11111"/>
                </a:solidFill>
              </a:defRPr>
            </a:pPr>
            <a:r>
              <a:rPr sz="1650">
                <a:solidFill>
                  <a:srgbClr val="111111"/>
                </a:solidFill>
              </a:rPr>
              <a:t>The portfolio should remain mixed next month, but several amber projects could still move red if recovery plans are not enforced.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4D95BB-FFB3-4CC6-83CF-1C5D30376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600200"/>
            <a:ext cx="575310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9E2"/>
          </a:solidFill>
          <a:ln xmlns:a="http://schemas.openxmlformats.org/drawingml/2006/main" w="0">
            <a:solidFill>
              <a:srgbClr val="FDE9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585FB6-78AD-4889-8D14-DF13E5A97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885950"/>
            <a:ext cx="361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Expected improvements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4DEA8C-3CE2-4483-9280-066AE84E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419350"/>
            <a:ext cx="495300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1. Re-baselining the top five red projects should slow further schedule deterioration across the 2 projects already delayed by more than 14 days.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2. A tighter burn-versus-progress review should help contain the 5 projects currently spending ahead of delivery progress.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3. Daily blocker escalation and better status hygiene should improve confidence on the 3 heavily blocked projects and narrow the 0.0-point reporting gap in the leading red project.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5F1EF4-B931-4E13-9269-E0C8811BB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0"/>
            <a:ext cx="10801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11111"/>
                </a:solidFill>
              </a:defRPr>
            </a:pPr>
            <a:r>
              <a:rPr sz="1575">
                <a:solidFill>
                  <a:srgbClr val="111111"/>
                </a:solidFill>
              </a:rPr>
              <a:t>Project Plan B should stay on the watchlist next month because it remains undefined and still carries a 0-point gap between weekly and task-level progress.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3608F0-B50C-45D4-83FF-CEC2AB548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436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5F6368"/>
                </a:solidFill>
              </a:defRPr>
            </a:pPr>
            <a:r>
              <a:rPr sz="1125">
                <a:solidFill>
                  <a:srgbClr val="5F6368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7737382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2026-07-08T06:06:57.9600000Z</dcterms:created>
  <dcterms:modified xsi:type="dcterms:W3CDTF">2026-07-08T06:06:57.9600000Z</dcterms:modified>
</coreProperties>
</file>