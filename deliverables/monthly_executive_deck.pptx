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Automated monthly client-ready view generated from the analyzed project plans.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81328"/>
            <a:ext cx="2560320" cy="1426464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2763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286000"/>
            <a:ext cx="2231136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Projects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481328"/>
            <a:ext cx="2560320" cy="1426464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4992" y="162763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364992" y="2286000"/>
            <a:ext cx="2231136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481328"/>
            <a:ext cx="2560320" cy="1426464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8192" y="162763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08192" y="2286000"/>
            <a:ext cx="2231136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Amber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481328"/>
            <a:ext cx="2560320" cy="1426464"/>
          </a:xfrm>
          <a:prstGeom prst="rect">
            <a:avLst/>
          </a:prstGeom>
          <a:solidFill>
            <a:srgbClr val="F8D7CC"/>
          </a:solidFill>
          <a:ln>
            <a:solidFill>
              <a:srgbClr val="F8D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51392" y="162763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D9481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1392" y="2286000"/>
            <a:ext cx="2231136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10128"/>
            <a:ext cx="1691640" cy="27432"/>
          </a:xfrm>
          <a:prstGeom prst="rect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47872"/>
            <a:ext cx="7223760" cy="1097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0">
                <a:solidFill>
                  <a:srgbClr val="111111"/>
                </a:solidFill>
                <a:latin typeface="Aptos"/>
              </a:defRPr>
            </a:pPr>
            <a:r>
              <a:t>100.0% of analyzed views are currently red, which indicates that schedule recovery and execution control need executive attention before the next client reporting cycle.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008" y="3364992"/>
            <a:ext cx="3200400" cy="295351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621024"/>
            <a:ext cx="26974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This month at a glance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4041648"/>
            <a:ext cx="2615184" cy="20116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Risk is the most common lead driver.</a:t>
            </a: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Schedule pressure is the next-most common concern across the current plans.</a:t>
            </a: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UniSan S2P implementation remains red and should stay on the next escalation review list.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Portfolio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RAG distribution, average score, and model validation point to a portfolio that is broadly under delivery pressure.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897880" cy="4517136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682496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RAG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22576"/>
            <a:ext cx="1481328" cy="181051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5" y="2468880"/>
            <a:ext cx="115214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42415" y="3127248"/>
            <a:ext cx="1152144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Green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322576"/>
            <a:ext cx="1481328" cy="181051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6352" y="2468880"/>
            <a:ext cx="115214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16352" y="3127248"/>
            <a:ext cx="1152144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Amber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25696" y="2322576"/>
            <a:ext cx="1481328" cy="1810512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468880"/>
            <a:ext cx="115214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D9481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127248"/>
            <a:ext cx="1152144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480560"/>
            <a:ext cx="502920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111111"/>
                </a:solidFill>
                <a:latin typeface="Aptos"/>
              </a:defRPr>
            </a:pPr>
            <a:r>
              <a:t>2 project plans were analyzed in this run, and every current view is red or amber-weighted enough to need active leadership attention.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21424" y="1627632"/>
            <a:ext cx="2212848" cy="1463040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6016" y="1773936"/>
            <a:ext cx="188366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53.0/100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2432304"/>
            <a:ext cx="1883664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Overall Score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1627632"/>
            <a:ext cx="2057400" cy="1463040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1773936"/>
            <a:ext cx="172821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D9481C"/>
                </a:solidFill>
                <a:latin typeface="Aptos"/>
              </a:defRPr>
            </a:pPr>
            <a: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2432304"/>
            <a:ext cx="1728216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Validation Accuracy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1424" y="3566160"/>
            <a:ext cx="4434840" cy="17007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900" b="0">
                <a:solidFill>
                  <a:srgbClr val="111111"/>
                </a:solidFill>
                <a:latin typeface="Aptos"/>
              </a:defRPr>
            </a:pPr>
            <a:r>
              <a:t>The average score across all 2 analyzed project plans is 53.0/100. Validation against the embedded workbook health labels holds at 50%, which is directionally useful for leadership screening while keeping the reasoning transparent.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Emerging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Delay, budget burn, staffing pressure, and stakeholder confidence are emerging together rather than as isolated signals.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560320" cy="162763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700784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21792" y="2359152"/>
            <a:ext cx="2231136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Budget Burn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63824" y="1554480"/>
            <a:ext cx="2560320" cy="1627632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1700784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D9481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8416" y="2359152"/>
            <a:ext cx="2231136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Schedule Delays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55848"/>
            <a:ext cx="2560320" cy="162763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350215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160520"/>
            <a:ext cx="2231136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Resource Issues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63824" y="3355848"/>
            <a:ext cx="2560320" cy="162763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28416" y="350215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328416" y="4160520"/>
            <a:ext cx="2231136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Stakeholder Concerns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554480"/>
            <a:ext cx="5120640" cy="3401568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828800"/>
            <a:ext cx="2194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1">
                <a:solidFill>
                  <a:srgbClr val="111111"/>
                </a:solidFill>
                <a:latin typeface="Aptos"/>
              </a:defRPr>
            </a:pPr>
            <a:r>
              <a:t>Risk 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267712"/>
            <a:ext cx="4343400" cy="2240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0">
                <a:solidFill>
                  <a:srgbClr val="111111"/>
                </a:solidFill>
                <a:latin typeface="Aptos"/>
              </a:defRPr>
            </a:pPr>
            <a:r>
              <a:t>1 projects are already more than two weeks behind, and 0 are spending ahead of delivery progress.</a:t>
            </a:r>
          </a:p>
          <a:p>
            <a:pPr>
              <a:defRPr sz="17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700" b="0">
                <a:solidFill>
                  <a:srgbClr val="111111"/>
                </a:solidFill>
                <a:latin typeface="Aptos"/>
              </a:defRPr>
            </a:pPr>
            <a:r>
              <a:t>0 projects also carry two or more critical blockers, which means the schedule risk is likely to stay elevated unless escalation gets faster.</a:t>
            </a:r>
          </a:p>
          <a:p>
            <a:pPr>
              <a:defRPr sz="17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700" b="0">
                <a:solidFill>
                  <a:srgbClr val="111111"/>
                </a:solidFill>
                <a:latin typeface="Aptos"/>
              </a:defRPr>
            </a:pPr>
            <a:r>
              <a:t>Resource utilization above 90% and neutral or negative stakeholder sentiment show that the pressure is visible both inside the delivery teams and with client-facing sponsors.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Critical Projects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Top five red projects by score, ranked by the severity of the current delivery signal.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72768"/>
          <a:ext cx="10808208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1051560"/>
                <a:gridCol w="6693408"/>
              </a:tblGrid>
              <a:tr h="13350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Project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Reason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</a:tr>
              <a:tr h="133502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Zycus - UniSan S2P Implementation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68.1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About 61% of the plan duration has elapsed, while blended progress is 44% and 22% of due tasks are still incomplete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133502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Zycus - Titan S2P Implementation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38.0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The plan carries 16 critical risks and 24 high risks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79008"/>
            <a:ext cx="9418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111111"/>
                </a:solidFill>
                <a:latin typeface="Aptos"/>
              </a:defRPr>
            </a:pPr>
            <a:r>
              <a:t>These projects should be reviewed first in the next escalation cadence because they combine the highest risk scores with clear delivery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The next operating cycle should focus on recovery discipline, blocker escalation, and cleaner execution reporting.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0808208" cy="1207008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01952"/>
            <a:ext cx="594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1">
                <a:solidFill>
                  <a:srgbClr val="D9481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1783080"/>
            <a:ext cx="877824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Increase staffing where utilization is already above safe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57984"/>
            <a:ext cx="8686800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Reassign or add capacity to the most constrained plans before schedule recovery work pushes the same teams further behind.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10808208" cy="1207008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64991"/>
            <a:ext cx="594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1">
                <a:solidFill>
                  <a:srgbClr val="D9481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3246120"/>
            <a:ext cx="877824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Escalate blocked projects through a daily unblock cadence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621024"/>
            <a:ext cx="8686800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Use a standing review for critical blockers and P1 issues so execution stalls do not sit inside weekly status reports.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80560"/>
            <a:ext cx="10808208" cy="1207008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28032"/>
            <a:ext cx="594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1">
                <a:solidFill>
                  <a:srgbClr val="D9481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4709160"/>
            <a:ext cx="877824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Rebaseline delayed milestones and enforce dated recovery plans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5084064"/>
            <a:ext cx="8686800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Reset dates at milestone level for the top red projects and review burn-versus-progress weekly until the gap narrows.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Next Month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The near-term forecast improves only if the current red watchlist receives faster recovery actions than it did this month.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4681728" cy="3163824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83664"/>
            <a:ext cx="1737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1">
                <a:solidFill>
                  <a:srgbClr val="111111"/>
                </a:solidFill>
                <a:latin typeface="Aptos"/>
              </a:defRPr>
            </a:pPr>
            <a:r>
              <a:t>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40864"/>
            <a:ext cx="3977639" cy="1783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0">
                <a:solidFill>
                  <a:srgbClr val="111111"/>
                </a:solidFill>
                <a:latin typeface="Aptos"/>
              </a:defRPr>
            </a:pPr>
            <a:r>
              <a:t>Without intervention, the portfolio is likely to stay red-heavy next month because delay, cost, and blocker pressure are all elevated at the same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4688" y="1600200"/>
            <a:ext cx="5760720" cy="3163824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79008" y="1883664"/>
            <a:ext cx="365760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Expected improvements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2414016"/>
            <a:ext cx="4937760" cy="1947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1. Re-baselining the top five red projects should slow further schedule deterioration across the 1 projects already delayed by more than 14 days.</a:t>
            </a: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2. A tighter burn-versus-progress review should help contain the 0 projects currently spending ahead of delivery progress.</a:t>
            </a: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3. Daily blocker escalation and better status hygiene should improve confidence on the 0 heavily blocked projects and narrow the 0.4-point reporting gap in Zycus - UniSan S2P Implementation.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21808"/>
            <a:ext cx="10808208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900" b="0">
                <a:solidFill>
                  <a:srgbClr val="111111"/>
                </a:solidFill>
                <a:latin typeface="Aptos"/>
              </a:defRPr>
            </a:pPr>
            <a:r>
              <a:t>Project Plan B should stay on the watchlist next month because it remains Red and still carries a 0-point gap between weekly and task-level progress.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