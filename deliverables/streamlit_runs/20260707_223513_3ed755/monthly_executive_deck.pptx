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b12dbc6f724562" /><Relationship Type="http://schemas.openxmlformats.org/officeDocument/2006/relationships/extended-properties" Target="/docProps/app.xml" Id="R4115cac5c4f64a40" /><Relationship Type="http://schemas.openxmlformats.org/officeDocument/2006/relationships/officeDocument" Target="/ppt/presentation.xml" Id="R3bbcda508f164b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f8c5a7bfcb4e3c"/>
  </p:sldMasterIdLst>
  <p:notesMasterIdLst>
    <p:notesMasterId xmlns:r="http://schemas.openxmlformats.org/officeDocument/2006/relationships" r:id="Rfdbb45499748439b"/>
  </p:notesMasterIdLst>
  <p:sldIdLst>
    <p:sldId xmlns:r="http://schemas.openxmlformats.org/officeDocument/2006/relationships" id="256" r:id="R797601b52aed4ddc"/>
    <p:sldId xmlns:r="http://schemas.openxmlformats.org/officeDocument/2006/relationships" id="257" r:id="Ree17eb9507544864"/>
    <p:sldId xmlns:r="http://schemas.openxmlformats.org/officeDocument/2006/relationships" id="258" r:id="Rd3786e508ef24cdd"/>
    <p:sldId xmlns:r="http://schemas.openxmlformats.org/officeDocument/2006/relationships" id="259" r:id="R29626701c8d94861"/>
    <p:sldId xmlns:r="http://schemas.openxmlformats.org/officeDocument/2006/relationships" id="260" r:id="R1e01314aa42544f0"/>
    <p:sldId xmlns:r="http://schemas.openxmlformats.org/officeDocument/2006/relationships" id="261" r:id="R52ad1ae554ab49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651a52354f4d85" /><Relationship Type="http://schemas.openxmlformats.org/officeDocument/2006/relationships/slideMaster" Target="/ppt/slideMasters/slideMaster1.xml" Id="Re5f8c5a7bfcb4e3c" /><Relationship Type="http://schemas.openxmlformats.org/officeDocument/2006/relationships/notesMaster" Target="/ppt/notesMasters/notesMaster1.xml" Id="Rfdbb45499748439b" /><Relationship Type="http://schemas.openxmlformats.org/officeDocument/2006/relationships/presProps" Target="/ppt/presProps.xml" Id="R274e3953e82f4a7f" /><Relationship Type="http://schemas.openxmlformats.org/officeDocument/2006/relationships/tableStyles" Target="/ppt/tableStyles.xml" Id="Rea386d979f9c4610" /><Relationship Type="http://schemas.openxmlformats.org/officeDocument/2006/relationships/slide" Target="/ppt/slides/slide1.xml" Id="R797601b52aed4ddc" /><Relationship Type="http://schemas.openxmlformats.org/officeDocument/2006/relationships/slide" Target="/ppt/slides/slide2.xml" Id="Ree17eb9507544864" /><Relationship Type="http://schemas.openxmlformats.org/officeDocument/2006/relationships/slide" Target="/ppt/slides/slide3.xml" Id="Rd3786e508ef24cdd" /><Relationship Type="http://schemas.openxmlformats.org/officeDocument/2006/relationships/slide" Target="/ppt/slides/slide4.xml" Id="R29626701c8d94861" /><Relationship Type="http://schemas.openxmlformats.org/officeDocument/2006/relationships/slide" Target="/ppt/slides/slide5.xml" Id="R1e01314aa42544f0" /><Relationship Type="http://schemas.openxmlformats.org/officeDocument/2006/relationships/slide" Target="/ppt/slides/slide6.xml" Id="R52ad1ae554ab49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568f5a1aad49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f673f145e44b5c" /><Relationship Type="http://schemas.openxmlformats.org/officeDocument/2006/relationships/notesMaster" Target="/ppt/notesMasters/notesMaster1.xml" Id="Rcb130bcd6db5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4dfc95b8724ed0" /><Relationship Type="http://schemas.openxmlformats.org/officeDocument/2006/relationships/notesMaster" Target="/ppt/notesMasters/notesMaster1.xml" Id="Rc0c8d7904f5240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2972519db0459a" /><Relationship Type="http://schemas.openxmlformats.org/officeDocument/2006/relationships/notesMaster" Target="/ppt/notesMasters/notesMaster1.xml" Id="Rd9c8e3f245f143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8c8863a72a4256" /><Relationship Type="http://schemas.openxmlformats.org/officeDocument/2006/relationships/notesMaster" Target="/ppt/notesMasters/notesMaster1.xml" Id="Ra8fe2e574e424a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d8995a0a6745bc" /><Relationship Type="http://schemas.openxmlformats.org/officeDocument/2006/relationships/notesMaster" Target="/ppt/notesMasters/notesMaster1.xml" Id="R301cff9e9fa744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e7179d2b964555" /><Relationship Type="http://schemas.openxmlformats.org/officeDocument/2006/relationships/notesMaster" Target="/ppt/notesMasters/notesMaster1.xml" Id="Rf9edf01636b54d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ea4d95c9240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1aa15fa3084165" /><Relationship Type="http://schemas.openxmlformats.org/officeDocument/2006/relationships/slideLayout" Target="/ppt/slideLayouts/slideLayout1.xml" Id="R0dbbe9889be34e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bbe9889be34e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0c22835e04690" /><Relationship Type="http://schemas.openxmlformats.org/officeDocument/2006/relationships/notesSlide" Target="/ppt/notesSlides/notesSlide1.xml" Id="Rc175f517a7f242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2525ebd324b5b" /><Relationship Type="http://schemas.openxmlformats.org/officeDocument/2006/relationships/notesSlide" Target="/ppt/notesSlides/notesSlide2.xml" Id="Rc539928f161541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2966338d943d3" /><Relationship Type="http://schemas.openxmlformats.org/officeDocument/2006/relationships/notesSlide" Target="/ppt/notesSlides/notesSlide3.xml" Id="R8bfe34808e9843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3ea53904e47e6" /><Relationship Type="http://schemas.openxmlformats.org/officeDocument/2006/relationships/notesSlide" Target="/ppt/notesSlides/notesSlide4.xml" Id="Re9f04063b1424b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6ed78a6ce4f0d" /><Relationship Type="http://schemas.openxmlformats.org/officeDocument/2006/relationships/notesSlide" Target="/ppt/notesSlides/notesSlide5.xml" Id="R4c6636ba652042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983313d73494c" /><Relationship Type="http://schemas.openxmlformats.org/officeDocument/2006/relationships/notesSlide" Target="/ppt/notesSlides/notesSlide6.xml" Id="Rd75c8efbb43341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1BE134-2BF3-4463-995E-8B7CCA0C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5A226-ECF5-4BDF-9C70-CBDE8B62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Automated monthly client-ready view generated from the analyzed project plans.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6AE52-437C-440A-B44D-60F98D80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0B6A2-33EA-4D94-879D-BA0BD499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33160-D07E-40BA-A7C5-E9F45C53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BD1D6-DD2A-4FE3-9D7A-F0128796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5A034-E4A3-4C6A-98E6-95B9F2C2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5F7EC-393B-46E4-ACEA-8CE51DC3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1C483-6E0B-4288-A3CE-E131283C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03788-3D65-453D-A75C-229BB345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64B03-C6EC-49D7-A7F6-06569928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8A25B-FD7B-4AF5-B613-282643DA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7CC"/>
          </a:solidFill>
          <a:ln xmlns:a="http://schemas.openxmlformats.org/drawingml/2006/main" w="0">
            <a:solidFill>
              <a:srgbClr val="F8D7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2ED98-4383-4965-BBA0-85FCEAD7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42688-9D85-4A1F-B501-396E3625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A37A0-FF77-4074-81FF-36787FD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61590-DE97-40A5-BDAC-9B86B0CD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100% of analyzed views are currently red, which indicates that schedule recovery and execution control need executive attention before the next client reporting cycle.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ACDC9-0998-48DF-B2F6-473579B1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200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048DD-8285-4AC9-A806-DF255077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This month at a glance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2518A-FF7F-4352-854D-193AEAE0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25717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Risk is the most common lead driver.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Schedule pressure is the next-most common concern across the current plans.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UniSan S2P implementation remains red and should stay on the next escalation review list.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94100-E221-45C0-B341-1AC2D6A0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1140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C4E18-0B5D-40A2-8DA5-312AD2BC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Portfolio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2F57D-47A6-480E-A7DC-2E340971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RAG distribution, average score, and model validation point to a portfolio that is broadly under delivery pressure.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85326-AB00-4CDD-9D8A-020A92FF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59055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A91E0-3D85-4982-AA8C-52F2E97B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RAG 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47351-5104-4650-B7FA-7DD7F95A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FCAE6-BADC-4BA5-A76A-A164B5B6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DD5C2-0313-48DB-A9B3-483C86D1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112C1-9622-4C69-85C5-DDFE9C4F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6576E-D3F0-4522-BD5B-D5D5C364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8C342-5E59-489A-8F7B-BE5F18E6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727BC-7F57-4043-B77B-C6AB14C3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0A8E0-0079-434B-BFFA-B83B56C7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7C292-1F34-4AD2-B7A8-A2832647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093ED-8CF5-4A5D-AD9D-9500A039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5029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2 project plans were analyzed in this run, and every current view is red or amber-weighted enough to need active leadership attention.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7C5F7-A59E-4038-974E-B393BAF8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19250"/>
            <a:ext cx="2209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8C14A-59F4-4AD5-A0DE-FC6E211C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907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53/100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CF35D-D955-4350-9421-A398FE23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Overall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46BB3-58E8-4669-963B-12F2D7C1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19250"/>
            <a:ext cx="2057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908DE-510D-419D-A652-E35EC3A4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907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B9733-ACDD-4CB0-9263-9E623536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Validation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1D947-ED08-4F2C-AE24-B3391F7D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4438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The average score across all 2 analyzed project plans is 53/100. Validation against the embedded workbook health labels holds at 50%, which is directionally useful for leadership screening while keeping the reasoning transparent.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92B9C-95EA-41B7-A159-2E10162B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95028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4ABCB-D50F-4DD4-864E-DBAB7719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Emerging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AC8BA-6DA8-48A0-8977-815C00DD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Delay, budget burn, staffing pressure, and stakeholder confidence are emerging together rather than as isolated signals.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42A43-8C56-49EB-95DE-A531F9B6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1DCA0-31E4-4094-A477-8835B1B9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0D654-2263-44A5-9DF7-73D3B917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Budget Burn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7EC1F-161C-424D-8E40-071E5883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621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647B2-D5A7-4CE3-81F9-A7BAC4B0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986E2-4339-478D-93A8-A35AD1E0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Schedule Delays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258BD-0C66-4AC2-A8B6-2F57581E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A7BEC-D9AE-4414-B240-ACF31A5A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DCD2C-E022-4FA6-92CA-81134904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Resource Issues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FC1B3-64D4-43CC-BE54-FECFD34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528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0F147-CD1E-4F16-9D3D-A7EA4270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70D05-47C7-480F-B761-30A569AC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Stakeholder Concerns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D7B43-73C7-45EE-8091-34236B60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51244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FD00B-82BE-463E-9954-FE918637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Risk 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5DA2B-0D8A-4570-BCAD-AED80173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43434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1 projects are already more than two weeks behind, and 0 are spending ahead of delivery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0 projects also carry two or more critical blockers, which means the schedule risk is likely to stay elevated unless escalation gets faster.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Resource utilization above 90% and neutral or negative stakeholder sentiment show that the pressure is visible both inside the delivery teams and with client-facing sponsors.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D931D-8D73-492F-AD72-1BE4E7CA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0561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84C803-2B50-4534-AFAC-499ADDDE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Critical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B0F8A-9BD6-4DCC-A329-ACF3B489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Top five red projects by score, ranked by the severity of the current delivery signal.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57200" y="1581150"/>
          <a:ext xmlns:a="http://schemas.openxmlformats.org/drawingml/2006/main" cx="1080135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1047750"/>
                <a:gridCol w="6705600"/>
              </a:tblGrid>
              <a:tr h="1333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Zycus - UniSan S2P Implementation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68.1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About 61% of the plan duration has elapsed, while blended progress is 44% and 22% of due tasks are still incomplete</a:t>
                      </a:r>
                    </a:p>
                  </a:txBody>
                  <a:tcPr marL="91440" marR="91440" marT="45720" marB="45720"/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Zycus - Titan S2P Implementation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The plan carries 16 critical risks and 24 high risks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6EB8B-A631-4382-8369-EB49E30B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These projects should be reviewed first in the next escalation cadence because they combine the highest risk scores with clear delivery explanations.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4D4E6-0CAF-4AD6-B8F6-91C46D61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8520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CEBBEF-F757-4054-815F-B5ADDE34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CDE1D-85D2-4EF5-B631-B636183B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The next operating cycle should focus on recovery discipline, blocker escalation, and cleaner execution reporting.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C0C7B-87A2-4708-93A8-EB060A9D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83494-6C41-42A3-A254-D459C555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EA599-2297-426E-8EC8-7B6ED2BC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907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Increase staffing where utilization is already above safe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8B2F8-B97C-4293-9932-33720088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Reassign or add capacity to the most constrained plans before schedule recovery work pushes the same teams further behind.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A3053-5288-4B32-AE80-591CA3E1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F7B9E-9BAE-4BE0-9F61-304F828A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26250-9465-4C71-9960-A48AD0D3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Escalate blocked projects through a daily unblock cadence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231FF-BBB9-48B8-A721-5ECB2AB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Use a standing review for critical blockers and P1 issues so execution stalls do not sit inside weekly status reports.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A7BAC-49A9-4331-A2E0-21C243B6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449FE-8A1D-401C-AD91-5BBF15FA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D0EE0-B89A-42EB-B2D0-F6D04DFD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Rebaseline delayed milestones and enforce dated recovery plans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99841-B980-4E77-A690-A400923A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863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Reset dates at milestone level for the top red projects and review burn-versus-progress weekly until the gap narrows.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2F371-1239-4DB9-A823-49DE0371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3080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23C909-CB6C-4453-8F08-7D2661DD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Next Month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9EB21-EFF3-4F8A-835F-0FA6CC0E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The near-term forecast improves only if the current red watchlist receives faster recovery actions than it did this month.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4E40C-EBBF-4CBC-9C20-1866BB20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686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FF0CF-5728-42F9-9A1C-1DE8E59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Forecast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38055-62A0-4367-9E59-B19AEB02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9814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Without intervention, the portfolio is likely to stay red-heavy next month because delay, cost, and blocker pressure are all elevated at the same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0439B-268C-47CE-A1FF-5B4D1F97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00200"/>
            <a:ext cx="5753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D130D-AAD1-428C-9D49-DCEC03A7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Expected improvements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CEF47-87F1-4291-A3D8-A4BA06B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19350"/>
            <a:ext cx="4953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1. Re-baselining the top five red projects should slow further schedule deterioration across the 1 projects already delayed by more than 14 days.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2. A tighter burn-versus-progress review should help contain the 0 projects currently spending ahead of delivery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3. Daily blocker escalation and better status hygiene should improve confidence on the 0 heavily blocked projects and narrow the 0.4-point reporting gap in Zycus - UniSan S2P Implementation.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86966-BEA9-40D4-9811-B60A8F8A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80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Project Plan B should stay on the watchlist next month because it remains Red and still carries a 0-point gap between weekly and task-level progress.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645E4-AFB1-4507-BD0F-A3812EF7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5810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2026-07-07T17:05:16.1310000Z</dcterms:created>
  <dcterms:modified xsi:type="dcterms:W3CDTF">2026-07-07T17:05:16.1310000Z</dcterms:modified>
</coreProperties>
</file>