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f71898b1b74edf" /><Relationship Type="http://schemas.openxmlformats.org/officeDocument/2006/relationships/extended-properties" Target="/docProps/app.xml" Id="R5309a0a7dada4c21" /><Relationship Type="http://schemas.openxmlformats.org/officeDocument/2006/relationships/officeDocument" Target="/ppt/presentation.xml" Id="R215dcff122f4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039191dff4d29"/>
  </p:sldMasterIdLst>
  <p:notesMasterIdLst>
    <p:notesMasterId xmlns:r="http://schemas.openxmlformats.org/officeDocument/2006/relationships" r:id="R00f7a6418d8649b2"/>
  </p:notesMasterIdLst>
  <p:sldIdLst>
    <p:sldId xmlns:r="http://schemas.openxmlformats.org/officeDocument/2006/relationships" id="256" r:id="R2956ad57a0674f3e"/>
    <p:sldId xmlns:r="http://schemas.openxmlformats.org/officeDocument/2006/relationships" id="257" r:id="R84d66b0b70be47e4"/>
    <p:sldId xmlns:r="http://schemas.openxmlformats.org/officeDocument/2006/relationships" id="258" r:id="Rb653c43a2c234914"/>
    <p:sldId xmlns:r="http://schemas.openxmlformats.org/officeDocument/2006/relationships" id="259" r:id="R300b9374b1464fb2"/>
    <p:sldId xmlns:r="http://schemas.openxmlformats.org/officeDocument/2006/relationships" id="260" r:id="R2a719cce3b764848"/>
    <p:sldId xmlns:r="http://schemas.openxmlformats.org/officeDocument/2006/relationships" id="261" r:id="R3d42d68c111341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6fb86438849d7" /><Relationship Type="http://schemas.openxmlformats.org/officeDocument/2006/relationships/slideMaster" Target="/ppt/slideMasters/slideMaster1.xml" Id="R05d039191dff4d29" /><Relationship Type="http://schemas.openxmlformats.org/officeDocument/2006/relationships/notesMaster" Target="/ppt/notesMasters/notesMaster1.xml" Id="R00f7a6418d8649b2" /><Relationship Type="http://schemas.openxmlformats.org/officeDocument/2006/relationships/presProps" Target="/ppt/presProps.xml" Id="R8fffef6ffc7d4452" /><Relationship Type="http://schemas.openxmlformats.org/officeDocument/2006/relationships/tableStyles" Target="/ppt/tableStyles.xml" Id="Rb690c2d4a4c44525" /><Relationship Type="http://schemas.openxmlformats.org/officeDocument/2006/relationships/slide" Target="/ppt/slides/slide1.xml" Id="R2956ad57a0674f3e" /><Relationship Type="http://schemas.openxmlformats.org/officeDocument/2006/relationships/slide" Target="/ppt/slides/slide2.xml" Id="R84d66b0b70be47e4" /><Relationship Type="http://schemas.openxmlformats.org/officeDocument/2006/relationships/slide" Target="/ppt/slides/slide3.xml" Id="Rb653c43a2c234914" /><Relationship Type="http://schemas.openxmlformats.org/officeDocument/2006/relationships/slide" Target="/ppt/slides/slide4.xml" Id="R300b9374b1464fb2" /><Relationship Type="http://schemas.openxmlformats.org/officeDocument/2006/relationships/slide" Target="/ppt/slides/slide5.xml" Id="R2a719cce3b764848" /><Relationship Type="http://schemas.openxmlformats.org/officeDocument/2006/relationships/slide" Target="/ppt/slides/slide6.xml" Id="R3d42d68c1113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380779f4d140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38b75542774b2d" /><Relationship Type="http://schemas.openxmlformats.org/officeDocument/2006/relationships/notesMaster" Target="/ppt/notesMasters/notesMaster1.xml" Id="R9131842a973144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be4580503c46fc" /><Relationship Type="http://schemas.openxmlformats.org/officeDocument/2006/relationships/notesMaster" Target="/ppt/notesMasters/notesMaster1.xml" Id="R787150394e1749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760c4230e34e33" /><Relationship Type="http://schemas.openxmlformats.org/officeDocument/2006/relationships/notesMaster" Target="/ppt/notesMasters/notesMaster1.xml" Id="Rfb75aa637f8147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2f343a8e4e4baf" /><Relationship Type="http://schemas.openxmlformats.org/officeDocument/2006/relationships/notesMaster" Target="/ppt/notesMasters/notesMaster1.xml" Id="R6498acc5d8034e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695b5a2fbe4237" /><Relationship Type="http://schemas.openxmlformats.org/officeDocument/2006/relationships/notesMaster" Target="/ppt/notesMasters/notesMaster1.xml" Id="Rb9a457ff090b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f1d23b29914309" /><Relationship Type="http://schemas.openxmlformats.org/officeDocument/2006/relationships/notesMaster" Target="/ppt/notesMasters/notesMaster1.xml" Id="R968efa648a634c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74c00fe6740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da51ef8ae544c5" /><Relationship Type="http://schemas.openxmlformats.org/officeDocument/2006/relationships/slideLayout" Target="/ppt/slideLayouts/slideLayout1.xml" Id="R3420096f5ea445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20096f5ea445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930e7085a4f61" /><Relationship Type="http://schemas.openxmlformats.org/officeDocument/2006/relationships/notesSlide" Target="/ppt/notesSlides/notesSlide1.xml" Id="Raa6e5cc5b7b044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9dcb5aef34ef9" /><Relationship Type="http://schemas.openxmlformats.org/officeDocument/2006/relationships/notesSlide" Target="/ppt/notesSlides/notesSlide2.xml" Id="Rf69cf95615e2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62b0800ef454d" /><Relationship Type="http://schemas.openxmlformats.org/officeDocument/2006/relationships/notesSlide" Target="/ppt/notesSlides/notesSlide3.xml" Id="R73a329ab1f664d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d7a9c44054cce" /><Relationship Type="http://schemas.openxmlformats.org/officeDocument/2006/relationships/notesSlide" Target="/ppt/notesSlides/notesSlide4.xml" Id="Ra5478f0742b043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36bbe57a44bc2" /><Relationship Type="http://schemas.openxmlformats.org/officeDocument/2006/relationships/notesSlide" Target="/ppt/notesSlides/notesSlide5.xml" Id="Rf039e18bfe4543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c6a92080b4a1e" /><Relationship Type="http://schemas.openxmlformats.org/officeDocument/2006/relationships/notesSlide" Target="/ppt/notesSlides/notesSlide6.xml" Id="R17907dbbd12b49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0B646-A54E-44D4-B222-9FF9E870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4368C-1783-4DBC-8B28-E2FC3D7A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Automated monthly client-ready view generated from the analyzed project plans.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BAFEC-1E4D-40EB-950E-53E8E02F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8918C-0032-4C32-A1B1-A926019C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52EF9-8FBB-4059-A278-71B03DDB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BB478-B627-4B13-8BB1-23F934EE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7D8CD-C5F9-44B1-A151-FFC79DE7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E37DF-48AB-4162-A6E8-B339669F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327F8-3448-40D5-B6A6-1346820A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67231-4127-4684-AE29-FF3A2126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DFA49-3158-4997-9576-7F14598A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9D7FE-931F-4D9D-9390-2F9C103D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CC"/>
          </a:solidFill>
          <a:ln xmlns:a="http://schemas.openxmlformats.org/drawingml/2006/main" w="0">
            <a:solidFill>
              <a:srgbClr val="F8D7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63867-0837-414C-804F-E66C6343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C6341-A2A7-42BD-AEA3-559A01D0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C2FCE-478B-473D-8EC7-054EB9FF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CD54D-1551-427F-BDDD-92D8345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62.5% of analyzed views are currently red, which indicates that schedule recovery and execution control need executive attention before the next client reporting cycle.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D2865-C7C7-47B9-8A26-2A7FF793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200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28E7C-269A-426C-BB84-C23ECA96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This month at a glance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45C9E-7654-47F0-B2C4-E7F8D324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571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Schedule is the most common lead driver.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Milestone pressure is the next-most common concern across the current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CRM Upgrade remains red and should stay on the next escalation review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C5E67-16BD-422F-8154-8BC0147E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5434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ED491-AC07-4FFC-9111-CCB19442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Portfolio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CD4E7-1245-473A-9531-7FEFF96E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RAG distribution, average score, and model validation point to a portfolio that is broadly under delivery pressure.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71D8F-B422-4FE7-AE76-124D8F97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59055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9B343-6AF7-42AE-A707-0630600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RAG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6829E-3113-4D73-B5C0-F31D35E7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C601A-C0F2-4E1E-B390-56999944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BF0D3-4C73-49BA-AF21-638A2FE1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17B8E-4697-48EC-8C5F-F82E1413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F040F-1938-4656-98C1-050B9FC1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50EB1-5A7D-4822-A8C1-127E6B78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71B6A-2EA7-4CCD-A78C-26F361A4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C5997-F254-4A22-A013-9727B296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8D046-07A8-427A-A25B-FBCA558B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BA4FE-167B-41CF-9DF8-DCFFBBC7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029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8 project plans were analyzed in this run, and every current view is red or amber-weighted enough to need active leadership attention.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DD416-4D83-4B2E-98F9-16D4F686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19250"/>
            <a:ext cx="2209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F118E-266C-4317-ACD3-A60EFBD5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907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57.3/100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4CA3C-CE76-45E8-9321-4895F1DD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Overall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ADEEA-3E0B-4BA1-A152-6CCCF74D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2057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B23D0-2329-455D-98B9-720D02D9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907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93C76-E124-4558-9076-B903B205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Validation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3E3E5-E0DB-4CCF-B3B1-AB892667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438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The average score across all 8 analyzed project plans is 57.3/100. Validation against the embedded workbook health labels holds at 50%, which is directionally useful for leadership screening while keeping the reasoning transparent.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3A518-AFA7-4840-BEC0-25F1DAF8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1557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CDC107-ABC9-46E6-9E84-2A2BFD9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Emerging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5C941-AB64-470D-865B-2060682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Delay, budget burn, staffing pressure, and stakeholder confidence are emerging together rather than as isolated signals.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276B3-8443-4FAC-880E-460D400E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33B64-4B87-4BBD-85FE-DC74125C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C8E1D-F1A0-4DEF-8B31-1B2BE828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Budget Burn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CBF98-148E-4474-AA4A-B20BC4B6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1E276-FE96-4174-8CB8-FF270AC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E2A10-1DE4-4729-8CE7-CB2DE0B7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Schedule Delays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D6B0F-2A69-4547-AFBF-AD81F9B2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93648-D082-49C5-A616-43D704CB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C5105-BD0A-4BB4-AC61-B2BCF003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Resource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2BD13-960D-4DF2-A49D-881AD8DA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122C8-617B-4450-8F6E-5B10F13C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B3DAD-A7FD-41EA-B06F-13207280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Stakeholder Concerns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D138B-83E1-487F-9DED-E4E276C4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1244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7ECF5-EFF1-4C4D-975E-8FD5979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Risk 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6396F-8476-499F-AD3B-C36486EB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3434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2 projects are already more than two weeks behind, and 5 are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3 projects also carry two or more critical blockers, which means the schedule risk is likely to stay elevated unless escalation gets faster.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Resource utilization above 90% and neutral or negative stakeholder sentiment show that the pressure is visible both inside the delivery teams and with client-facing sponsors.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29C45-C304-4D67-887D-4FBDC791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223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AF5C4-E1A8-455E-9F6A-FF3E537C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Critical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01DBD-DE9E-496A-A826-C4FE9288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Top five red projects by score, ranked by the severity of the current delivery signal.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1080135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1047750"/>
                <a:gridCol w="6705600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CRM Upgrade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91.1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26 points and the project is 18 days behind schedule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Vendor Risk Platform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85.2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23 points and the project is 21 days behind schedule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Contract Lifecycle Mgmt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84.4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14 points and the project is 14 days behind schedule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ERP Migration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74.4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15 points and the project is 12 days behind schedule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Data Lake Modernization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27.9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40% of milestones are marked delayed and 80% are overdue as of 2026-07-08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E5D4E-C876-4AF9-92C2-57D88DB7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These projects should be reviewed first in the next escalation cadence because they combine the highest risk scores with clear delivery explanations.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34EB7-AD1B-4D79-BB07-BCDFC135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9644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2A49B-1946-48F5-A1DD-AEE23969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DB579-8F84-4F99-94A5-7245358A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next operating cycle should focus on recovery discipline, blocker escalation, and cleaner execution reporting.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29F70-8720-426C-9E6F-8A0BBC8A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486C2-CF4F-4297-805D-B658C79A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2A810-E0C7-412B-9044-9A4C476B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Increase staffing where utilization is already above safe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AAA25-4801-4337-9A44-5E0A0650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Reassign or add capacity to the most constrained plans before schedule recovery work pushes the same teams further behind.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0B669-53EA-4C3F-9B03-6797D593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EB865-5A59-472D-9E47-5ED0708F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E4F14-77E0-4742-9E50-9529F683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Escalate blocked projects through a daily unblock cadence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F6E3C-FAE2-4821-9B41-2FDE7A72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Use a standing review for critical blockers and P1 issues so execution stalls do not sit inside weekly status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472E4-62DE-4775-AAFF-0E924BBB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17BE6-BF0D-4008-87F5-5EFB8A51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F7FFA-C073-4104-AC7C-8577409D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Rebaseline delayed milestones and enforce dated recovery plans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A621B-946B-4B73-B4BB-3C91F18F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863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Reset dates at milestone level for the top red projects and review burn-versus-progress weekly until the gap narrows.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520BD-2B77-496B-9C15-B6F0CA66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7798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E5A862-C251-45B3-958D-D08729B0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Next Month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472C3-1B02-4BEE-8ABA-C812EBB1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near-term forecast improves only if the current red watchlist receives faster recovery actions than it did this month.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4CA45-6C39-458C-9E06-A6BF54D8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686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952A0-9A8A-4B77-B88D-5CC82388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F5F32-47C9-44CB-B66E-F2F57AA0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9814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The portfolio should remain mixed next month, but several amber projects could still move red if recovery plans are not enforced.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438E3-4159-48A4-83F7-EA1B0730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00200"/>
            <a:ext cx="5753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5D839-BDB1-4BBC-B0E6-84F0E079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Expected improvements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1399A-7461-4096-BC5D-CDEE7C41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1935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1. Re-baselining the top five red projects should slow further schedule deterioration across the 2 projects already delayed by more than 14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2. A tighter burn-versus-progress review should help contain the 5 projects currently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3. Daily blocker escalation and better status hygiene should improve confidence on the 3 heavily blocked projects and narrow the 0.0-point reporting gap in the leading red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770B4-7957-4434-8183-2BBF4FC4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0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Project Plan B should stay on the watchlist next month because it remains undefined and still carries a 0-point gap between weekly and task-level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E4D23-A524-40D8-ABC7-5F50235C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359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2026-07-08T11:48:39.6240000Z</dcterms:created>
  <dcterms:modified xsi:type="dcterms:W3CDTF">2026-07-08T11:48:39.6240000Z</dcterms:modified>
</coreProperties>
</file>