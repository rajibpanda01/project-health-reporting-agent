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a50df229834797" /><Relationship Type="http://schemas.openxmlformats.org/officeDocument/2006/relationships/extended-properties" Target="/docProps/app.xml" Id="R371708d05c3041e2" /><Relationship Type="http://schemas.openxmlformats.org/officeDocument/2006/relationships/officeDocument" Target="/ppt/presentation.xml" Id="R73208053f8eb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8ed6602074a99"/>
  </p:sldMasterIdLst>
  <p:notesMasterIdLst>
    <p:notesMasterId xmlns:r="http://schemas.openxmlformats.org/officeDocument/2006/relationships" r:id="R607486a3b6dc40d5"/>
  </p:notesMasterIdLst>
  <p:sldIdLst>
    <p:sldId xmlns:r="http://schemas.openxmlformats.org/officeDocument/2006/relationships" id="256" r:id="R81f22f12cfc841cd"/>
    <p:sldId xmlns:r="http://schemas.openxmlformats.org/officeDocument/2006/relationships" id="257" r:id="R66ae528d4d394356"/>
    <p:sldId xmlns:r="http://schemas.openxmlformats.org/officeDocument/2006/relationships" id="258" r:id="Rd4cd3439236a4dd7"/>
    <p:sldId xmlns:r="http://schemas.openxmlformats.org/officeDocument/2006/relationships" id="259" r:id="Rf4645abf27af4acd"/>
    <p:sldId xmlns:r="http://schemas.openxmlformats.org/officeDocument/2006/relationships" id="260" r:id="R8d524091eb564b9a"/>
    <p:sldId xmlns:r="http://schemas.openxmlformats.org/officeDocument/2006/relationships" id="261" r:id="R5f08eee57f6146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091b1c1784355" /><Relationship Type="http://schemas.openxmlformats.org/officeDocument/2006/relationships/slideMaster" Target="/ppt/slideMasters/slideMaster1.xml" Id="R2ea8ed6602074a99" /><Relationship Type="http://schemas.openxmlformats.org/officeDocument/2006/relationships/notesMaster" Target="/ppt/notesMasters/notesMaster1.xml" Id="R607486a3b6dc40d5" /><Relationship Type="http://schemas.openxmlformats.org/officeDocument/2006/relationships/presProps" Target="/ppt/presProps.xml" Id="R78bb74d6e62a4002" /><Relationship Type="http://schemas.openxmlformats.org/officeDocument/2006/relationships/tableStyles" Target="/ppt/tableStyles.xml" Id="R5538340d73c44c9e" /><Relationship Type="http://schemas.openxmlformats.org/officeDocument/2006/relationships/slide" Target="/ppt/slides/slide1.xml" Id="R81f22f12cfc841cd" /><Relationship Type="http://schemas.openxmlformats.org/officeDocument/2006/relationships/slide" Target="/ppt/slides/slide2.xml" Id="R66ae528d4d394356" /><Relationship Type="http://schemas.openxmlformats.org/officeDocument/2006/relationships/slide" Target="/ppt/slides/slide3.xml" Id="Rd4cd3439236a4dd7" /><Relationship Type="http://schemas.openxmlformats.org/officeDocument/2006/relationships/slide" Target="/ppt/slides/slide4.xml" Id="Rf4645abf27af4acd" /><Relationship Type="http://schemas.openxmlformats.org/officeDocument/2006/relationships/slide" Target="/ppt/slides/slide5.xml" Id="R8d524091eb564b9a" /><Relationship Type="http://schemas.openxmlformats.org/officeDocument/2006/relationships/slide" Target="/ppt/slides/slide6.xml" Id="R5f08eee57f6146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8625ead6148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2d98d7e8b4322" /><Relationship Type="http://schemas.openxmlformats.org/officeDocument/2006/relationships/notesMaster" Target="/ppt/notesMasters/notesMaster1.xml" Id="R6aca73779387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062de6f7b4f7b" /><Relationship Type="http://schemas.openxmlformats.org/officeDocument/2006/relationships/notesMaster" Target="/ppt/notesMasters/notesMaster1.xml" Id="Rccd308fd034f4b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21a62a0e44352" /><Relationship Type="http://schemas.openxmlformats.org/officeDocument/2006/relationships/notesMaster" Target="/ppt/notesMasters/notesMaster1.xml" Id="Rc4439fd08d2b4e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59617a953c4859" /><Relationship Type="http://schemas.openxmlformats.org/officeDocument/2006/relationships/notesMaster" Target="/ppt/notesMasters/notesMaster1.xml" Id="Rdefd660d610c48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6e7e34dd154b97" /><Relationship Type="http://schemas.openxmlformats.org/officeDocument/2006/relationships/notesMaster" Target="/ppt/notesMasters/notesMaster1.xml" Id="R3dffd662d8894a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a0de52a64145e0" /><Relationship Type="http://schemas.openxmlformats.org/officeDocument/2006/relationships/notesMaster" Target="/ppt/notesMasters/notesMaster1.xml" Id="R09ff365b3d25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e7dca431b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b6522a902448f" /><Relationship Type="http://schemas.openxmlformats.org/officeDocument/2006/relationships/slideLayout" Target="/ppt/slideLayouts/slideLayout1.xml" Id="R6ff901bad51447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f901bad51447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bc130f63446aa" /><Relationship Type="http://schemas.openxmlformats.org/officeDocument/2006/relationships/notesSlide" Target="/ppt/notesSlides/notesSlide1.xml" Id="R6f0c6370e91e42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b340bc73740a8" /><Relationship Type="http://schemas.openxmlformats.org/officeDocument/2006/relationships/notesSlide" Target="/ppt/notesSlides/notesSlide2.xml" Id="Rdf6a9c0293024b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86e0212bf40ee" /><Relationship Type="http://schemas.openxmlformats.org/officeDocument/2006/relationships/notesSlide" Target="/ppt/notesSlides/notesSlide3.xml" Id="R3a19647017a24b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0f68b6d504cc4" /><Relationship Type="http://schemas.openxmlformats.org/officeDocument/2006/relationships/notesSlide" Target="/ppt/notesSlides/notesSlide4.xml" Id="R098af3354b414f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82fa464534c64" /><Relationship Type="http://schemas.openxmlformats.org/officeDocument/2006/relationships/notesSlide" Target="/ppt/notesSlides/notesSlide5.xml" Id="Re4b047edaf624d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745824887480a" /><Relationship Type="http://schemas.openxmlformats.org/officeDocument/2006/relationships/notesSlide" Target="/ppt/notesSlides/notesSlide6.xml" Id="R7985b95e4d0d4c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A8CE2-B7D6-4E26-8701-75A5BAE6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159EE-2955-47E4-9CA7-D51CCCB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Automated monthly client-ready view generated from the analyzed project plans.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57CEA-0A3A-4003-95FE-C1012611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FE6FA-7D90-44E5-A8C9-273D5FEF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CFEE8-C162-44A6-9058-295E5DD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EDF5F-5729-451F-B4FE-9C79B33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4239C-AB50-48FB-B5BF-13CCBF70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32FE3-0A0E-45C0-8FEB-0611034C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70986-B33D-4CB1-94F1-97EFBA29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FA8D-B6C0-47BB-B76A-3D34B08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296BA-97B2-492D-8A49-BD55C9F5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427A0-EC4C-4504-B293-9C37A938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CC"/>
          </a:solidFill>
          <a:ln xmlns:a="http://schemas.openxmlformats.org/drawingml/2006/main" w="0">
            <a:solidFill>
              <a:srgbClr val="F8D7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511FB-B2A4-438A-A8C1-DCF69DE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C9428-3E51-4A97-A4E1-57F7480D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912A0-5E8A-4A9F-9E7C-8DB02D4A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0FB5C-9B24-4592-AAAB-3BC0FB89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66.7% of analyzed views are currently red, which indicates that schedule recovery and execution control need executive attention before the next client reporting cycle.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4AD50-4020-42A1-9D63-2A653F9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0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94689-6F4A-46DF-98CF-181CCE86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This month at a glance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FD146-7620-4E04-928E-4D2BB18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571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Schedule is the most common lead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Milestone pressure is the next-most common concern across the current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CRM Upgrade remains red and should stay on the next escalation review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1FD88-578B-49DC-B6DD-D4ECBE9D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4074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B8379-8944-4B03-A405-149BF28A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Portfolio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F964D-A07C-4136-B711-360689E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RAG distribution, average score, and model validation point to a portfolio that is broadly under delivery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0532D-90DC-4C08-9298-6DBF583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905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DBA66-4FBB-41EE-964C-3A7A567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RAG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29152-22FA-4596-B822-D3DAADDD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5E613-7441-45B7-9F23-255DA863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7FEB4-F558-475B-9308-2C8632B1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74B36-4170-4AFB-9BD5-CE9F57C9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840AF-2A01-4DBD-BBCA-D57EEC2B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3B67E-8CEA-4BD6-B8C2-598318F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B1406-BE82-4F85-83E9-BB4993FB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2FD11-0626-4B03-A86D-2F997981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2B6F8-B736-4A29-8BBF-721A896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C0325-4A78-4D60-A2FD-5792E7C9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3 project plans were analyzed in this run, and every current view is red or amber-weighted enough to need active leadership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89286-DE65-441D-B7A8-BF65E711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2209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9F6FF-3FD1-40D4-9B21-8FCD56C2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907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62.1/100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EF1AE-7615-4DA3-B05D-CAB4D2CE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Overall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7C170-6640-46AC-9733-81DF2B00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057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29345-04FF-46A7-A622-A583E44E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67%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82467-88A8-4965-92FE-9274978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Validation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CED48-C507-4920-9E5F-6E74569C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438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The average score across all 3 analyzed project plans is 62.1/100. Validation against the embedded workbook health labels holds at 67%, which is directionally useful for leadership screening while keeping the reasoning transparent.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08EB2-D8B7-4153-A0C5-CA88B96A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4684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C6553-EE22-4807-B260-E730C5BD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Emerging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12DF9-8F9E-456C-B69C-DDEE966E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Delay, budget burn, staffing pressure, and stakeholder confidence are emerging together rather than as isolated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CB067-9543-4674-B93F-362512E7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D751C-269A-47BB-88B7-0DEDDFB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C528-54A5-4977-9126-318EA7FD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Budget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A8B8C-942C-4B8E-9772-16E7693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0C9DA-6846-48D4-9CE2-592E39C3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30FEF-F11A-4A7A-9FFC-788B3C6F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Schedule Delays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ED9BA-24C1-4BA5-99E6-AD51AA4E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B2D5A-33C3-423B-ACF3-F2526C49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7CF23-D2FE-4AC2-A73C-7403A121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Resource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F9BFE-C1B7-4DA9-835F-2AB074D3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97329-1B47-4D93-A71A-0FCC4AB3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59E21-6BD0-45CA-BFC1-82FC505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Stakeholder Concerns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EC70D-1057-4C50-9858-827BBBB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124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C906F-4C6B-42AF-A4F1-FE20E36F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Risk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4EC35-8D99-427E-BBDD-FAE9EDA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343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are already more than two weeks behind, and 2 are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also carry two or more critical blockers, which means the schedule risk is likely to stay elevated unless escalation gets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Resource utilization above 90% and neutral or negative stakeholder sentiment show that the pressure is visible both inside the delivery teams and with client-facing sponsors.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D10AC-A7F1-4EF2-A7C3-B2F29FC1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8347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35731-63C8-49A7-B853-70ED9A2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Critical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EBCD6-4014-4C96-81F0-56F58AE4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Top five red projects by score, ranked by the severity of the current delivery signal.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108013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1047750"/>
                <a:gridCol w="6705600"/>
              </a:tblGrid>
              <a:tr h="1333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CRM Upgrade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91.1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26 points and the project is 18 days behind schedule</a:t>
                      </a:r>
                    </a:p>
                  </a:txBody>
                  <a:tcPr marL="91440" marR="91440" marT="45720" marB="4572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ERP Migration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74.4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15 points and the project is 12 days behind schedule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19D65-2001-4C64-ABD0-E4673BE2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These projects should be reviewed first in the next escalation cadence because they combine the highest risk scores with clear delivery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2A3D-6DF1-4430-A69F-7DC37D32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2582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34653-FFDF-411C-854D-E9878C4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4DC60-9FF1-47D6-AC21-B3484EAD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next operating cycle should focus on recovery discipline, blocker escalation, and cleaner execution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0C6A9-A5FC-436B-B4C4-41B418B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7AC03-B0CF-47B3-88A2-620079F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2E473-9EC0-44FE-9CC9-0AAEAE89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Increase staffing where utilization is already above safe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E797D-DA35-4C4E-9664-2941D89F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Reassign or add capacity to the most constrained plans before schedule recovery work pushes the same teams further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198FF-F71F-4586-8F14-41D5CDC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AEDE5-3A71-4293-8784-04AF02AE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FF4C2-C979-4939-A543-B887031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Escalate blocked projects through a daily unblock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76572-12BF-45E0-92F0-31BEFDF7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Use a standing review for critical blockers and P1 issues so execution stalls do not sit inside weekly status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3D8D7-BEAB-4468-AA5D-1797D2A0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AAC36-D2B4-401A-BA2E-451ECE48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278EA-1E90-47C7-AA37-F2B0C027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Rebaseline delayed milestones and enforce dated recovery plans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B39FE-ED0C-4C05-B501-0E722B3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863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Reset dates at milestone level for the top red projects and review burn-versus-progress weekly until the gap narrows.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3EDD3-A107-40ED-8D90-686D403F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35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1DD66-6F88-4AEE-A1E6-31640B12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Next Month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C52A8-C118-4022-9DD0-8B3B7E5E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near-term forecast improves only if the current red watchlist receives faster recovery actions than it did this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4A38D-703D-421B-BE58-EBB3BEA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A19D9-007B-4F7D-8272-93D6E147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05FA6-5854-4003-A87F-85D15E8B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The portfolio should remain mixed next month, but several amber projects could still move red if recovery plans are not enforced.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8C11E-5B02-4AD9-BD77-FA76A17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753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11C5F-D389-46E4-98B0-C4B5383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4B9D0-D00B-43E6-AC7B-59321ECA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1. Re-baselining the top five red projects should slow further schedule deterioration across the 1 projects already delayed by more than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2. A tighter burn-versus-progress review should help contain the 2 projects currently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3. Daily blocker escalation and better status hygiene should improve confidence on the 1 heavily blocked projects and narrow the 0.0-point reporting gap in the leading red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0D707-666C-4340-9B42-6546591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Project Plan B should stay on the watchlist next month because it remains undefined and still carries a 0-point gap between weekly and task-level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6226C-20BF-4C75-8D39-19CACBE8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8478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2026-07-08T05:26:48.9690000Z</dcterms:created>
  <dcterms:modified xsi:type="dcterms:W3CDTF">2026-07-08T05:26:48.9690000Z</dcterms:modified>
</coreProperties>
</file>